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Arimo Bold" charset="1" panose="020B0704020202020204"/>
      <p:regular r:id="rId17"/>
    </p:embeddedFont>
    <p:embeddedFont>
      <p:font typeface="Arimo" charset="1" panose="020B06040202020202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font" Target="fonts/font17.fntdata"/><Relationship Id="rId18" Type="http://schemas.openxmlformats.org/officeDocument/2006/relationships/font" Target="fonts/font18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image" Target="../media/image15.png"/><Relationship Id="rId11" Type="http://schemas.openxmlformats.org/officeDocument/2006/relationships/image" Target="../media/image16.png"/><Relationship Id="rId12" Type="http://schemas.openxmlformats.org/officeDocument/2006/relationships/image" Target="../media/image1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Relationship Id="rId8" Type="http://schemas.openxmlformats.org/officeDocument/2006/relationships/image" Target="../media/image30.png"/><Relationship Id="rId9" Type="http://schemas.openxmlformats.org/officeDocument/2006/relationships/image" Target="../media/image31.png"/><Relationship Id="rId10" Type="http://schemas.openxmlformats.org/officeDocument/2006/relationships/image" Target="../media/image32.png"/><Relationship Id="rId11" Type="http://schemas.openxmlformats.org/officeDocument/2006/relationships/image" Target="../media/image33.png"/><Relationship Id="rId12" Type="http://schemas.openxmlformats.org/officeDocument/2006/relationships/image" Target="../media/image34.png"/><Relationship Id="rId13" Type="http://schemas.openxmlformats.org/officeDocument/2006/relationships/image" Target="../media/image3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Relationship Id="rId6" Type="http://schemas.openxmlformats.org/officeDocument/2006/relationships/image" Target="../media/image39.png"/><Relationship Id="rId7" Type="http://schemas.openxmlformats.org/officeDocument/2006/relationships/image" Target="../media/image40.png"/><Relationship Id="rId8" Type="http://schemas.openxmlformats.org/officeDocument/2006/relationships/image" Target="../media/image41.png"/><Relationship Id="rId9" Type="http://schemas.openxmlformats.org/officeDocument/2006/relationships/image" Target="../media/image42.png"/><Relationship Id="rId10" Type="http://schemas.openxmlformats.org/officeDocument/2006/relationships/image" Target="../media/image43.png"/><Relationship Id="rId11" Type="http://schemas.openxmlformats.org/officeDocument/2006/relationships/image" Target="../media/image44.png"/><Relationship Id="rId12" Type="http://schemas.openxmlformats.org/officeDocument/2006/relationships/image" Target="../media/image45.png"/><Relationship Id="rId13" Type="http://schemas.openxmlformats.org/officeDocument/2006/relationships/image" Target="../media/image46.png"/><Relationship Id="rId14" Type="http://schemas.openxmlformats.org/officeDocument/2006/relationships/image" Target="../media/image47.png"/><Relationship Id="rId15" Type="http://schemas.openxmlformats.org/officeDocument/2006/relationships/image" Target="../media/image48.png"/><Relationship Id="rId16" Type="http://schemas.openxmlformats.org/officeDocument/2006/relationships/image" Target="../media/image4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50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Relationship Id="rId6" Type="http://schemas.openxmlformats.org/officeDocument/2006/relationships/image" Target="../media/image53.png"/><Relationship Id="rId7" Type="http://schemas.openxmlformats.org/officeDocument/2006/relationships/image" Target="../media/image54.png"/><Relationship Id="rId8" Type="http://schemas.openxmlformats.org/officeDocument/2006/relationships/image" Target="../media/image55.png"/><Relationship Id="rId9" Type="http://schemas.openxmlformats.org/officeDocument/2006/relationships/image" Target="../media/image56.png"/><Relationship Id="rId10" Type="http://schemas.openxmlformats.org/officeDocument/2006/relationships/image" Target="../media/image57.png"/><Relationship Id="rId11" Type="http://schemas.openxmlformats.org/officeDocument/2006/relationships/image" Target="../media/image58.png"/><Relationship Id="rId12" Type="http://schemas.openxmlformats.org/officeDocument/2006/relationships/image" Target="../media/image59.png"/><Relationship Id="rId13" Type="http://schemas.openxmlformats.org/officeDocument/2006/relationships/image" Target="../media/image60.png"/><Relationship Id="rId14" Type="http://schemas.openxmlformats.org/officeDocument/2006/relationships/image" Target="../media/image61.png"/><Relationship Id="rId15" Type="http://schemas.openxmlformats.org/officeDocument/2006/relationships/image" Target="../media/image62.png"/><Relationship Id="rId16" Type="http://schemas.openxmlformats.org/officeDocument/2006/relationships/image" Target="../media/image63.jpeg"/><Relationship Id="rId17" Type="http://schemas.openxmlformats.org/officeDocument/2006/relationships/image" Target="../media/image64.png"/><Relationship Id="rId18" Type="http://schemas.openxmlformats.org/officeDocument/2006/relationships/image" Target="../media/image65.png"/><Relationship Id="rId19" Type="http://schemas.openxmlformats.org/officeDocument/2006/relationships/image" Target="../media/image66.png"/><Relationship Id="rId20" Type="http://schemas.openxmlformats.org/officeDocument/2006/relationships/image" Target="../media/image67.png"/><Relationship Id="rId21" Type="http://schemas.openxmlformats.org/officeDocument/2006/relationships/image" Target="../media/image68.png"/><Relationship Id="rId22" Type="http://schemas.openxmlformats.org/officeDocument/2006/relationships/image" Target="../media/image69.png"/><Relationship Id="rId23" Type="http://schemas.openxmlformats.org/officeDocument/2006/relationships/image" Target="../media/image70.png"/><Relationship Id="rId24" Type="http://schemas.openxmlformats.org/officeDocument/2006/relationships/image" Target="../media/image71.png"/><Relationship Id="rId25" Type="http://schemas.openxmlformats.org/officeDocument/2006/relationships/image" Target="../media/image72.png"/><Relationship Id="rId26" Type="http://schemas.openxmlformats.org/officeDocument/2006/relationships/image" Target="../media/image73.png"/><Relationship Id="rId27" Type="http://schemas.openxmlformats.org/officeDocument/2006/relationships/image" Target="../media/image74.png"/><Relationship Id="rId28" Type="http://schemas.openxmlformats.org/officeDocument/2006/relationships/image" Target="../media/image7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76.png"/><Relationship Id="rId4" Type="http://schemas.openxmlformats.org/officeDocument/2006/relationships/image" Target="../media/image77.png"/><Relationship Id="rId5" Type="http://schemas.openxmlformats.org/officeDocument/2006/relationships/image" Target="../media/image78.png"/><Relationship Id="rId6" Type="http://schemas.openxmlformats.org/officeDocument/2006/relationships/image" Target="../media/image79.png"/><Relationship Id="rId7" Type="http://schemas.openxmlformats.org/officeDocument/2006/relationships/image" Target="../media/image80.png"/><Relationship Id="rId8" Type="http://schemas.openxmlformats.org/officeDocument/2006/relationships/image" Target="../media/image81.png"/><Relationship Id="rId9" Type="http://schemas.openxmlformats.org/officeDocument/2006/relationships/image" Target="../media/image82.png"/><Relationship Id="rId10" Type="http://schemas.openxmlformats.org/officeDocument/2006/relationships/image" Target="../media/image83.png"/><Relationship Id="rId11" Type="http://schemas.openxmlformats.org/officeDocument/2006/relationships/image" Target="../media/image84.png"/><Relationship Id="rId12" Type="http://schemas.openxmlformats.org/officeDocument/2006/relationships/image" Target="../media/image85.png"/><Relationship Id="rId13" Type="http://schemas.openxmlformats.org/officeDocument/2006/relationships/image" Target="../media/image86.png"/><Relationship Id="rId14" Type="http://schemas.openxmlformats.org/officeDocument/2006/relationships/image" Target="../media/image87.png"/><Relationship Id="rId15" Type="http://schemas.openxmlformats.org/officeDocument/2006/relationships/image" Target="../media/image63.jpeg"/><Relationship Id="rId16" Type="http://schemas.openxmlformats.org/officeDocument/2006/relationships/image" Target="../media/image88.png"/><Relationship Id="rId17" Type="http://schemas.openxmlformats.org/officeDocument/2006/relationships/image" Target="../media/image89.png"/><Relationship Id="rId18" Type="http://schemas.openxmlformats.org/officeDocument/2006/relationships/image" Target="../media/image90.png"/><Relationship Id="rId19" Type="http://schemas.openxmlformats.org/officeDocument/2006/relationships/image" Target="../media/image91.png"/><Relationship Id="rId20" Type="http://schemas.openxmlformats.org/officeDocument/2006/relationships/image" Target="../media/image92.png"/><Relationship Id="rId21" Type="http://schemas.openxmlformats.org/officeDocument/2006/relationships/image" Target="../media/image93.png"/><Relationship Id="rId22" Type="http://schemas.openxmlformats.org/officeDocument/2006/relationships/image" Target="../media/image9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95.png"/><Relationship Id="rId4" Type="http://schemas.openxmlformats.org/officeDocument/2006/relationships/image" Target="../media/image96.png"/><Relationship Id="rId5" Type="http://schemas.openxmlformats.org/officeDocument/2006/relationships/image" Target="../media/image97.png"/><Relationship Id="rId6" Type="http://schemas.openxmlformats.org/officeDocument/2006/relationships/image" Target="../media/image98.png"/><Relationship Id="rId7" Type="http://schemas.openxmlformats.org/officeDocument/2006/relationships/image" Target="../media/image99.png"/><Relationship Id="rId8" Type="http://schemas.openxmlformats.org/officeDocument/2006/relationships/image" Target="../media/image100.png"/><Relationship Id="rId9" Type="http://schemas.openxmlformats.org/officeDocument/2006/relationships/image" Target="../media/image101.png"/><Relationship Id="rId10" Type="http://schemas.openxmlformats.org/officeDocument/2006/relationships/image" Target="../media/image102.png"/><Relationship Id="rId11" Type="http://schemas.openxmlformats.org/officeDocument/2006/relationships/image" Target="../media/image103.png"/><Relationship Id="rId12" Type="http://schemas.openxmlformats.org/officeDocument/2006/relationships/image" Target="../media/image104.png"/><Relationship Id="rId13" Type="http://schemas.openxmlformats.org/officeDocument/2006/relationships/image" Target="../media/image105.png"/><Relationship Id="rId14" Type="http://schemas.openxmlformats.org/officeDocument/2006/relationships/image" Target="../media/image106.png"/><Relationship Id="rId15" Type="http://schemas.openxmlformats.org/officeDocument/2006/relationships/image" Target="../media/image107.png"/><Relationship Id="rId16" Type="http://schemas.openxmlformats.org/officeDocument/2006/relationships/image" Target="../media/image108.png"/><Relationship Id="rId17" Type="http://schemas.openxmlformats.org/officeDocument/2006/relationships/image" Target="../media/image109.png"/><Relationship Id="rId18" Type="http://schemas.openxmlformats.org/officeDocument/2006/relationships/image" Target="../media/image110.png"/><Relationship Id="rId19" Type="http://schemas.openxmlformats.org/officeDocument/2006/relationships/image" Target="../media/image1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12.png"/><Relationship Id="rId4" Type="http://schemas.openxmlformats.org/officeDocument/2006/relationships/image" Target="../media/image113.png"/><Relationship Id="rId5" Type="http://schemas.openxmlformats.org/officeDocument/2006/relationships/image" Target="../media/image114.png"/><Relationship Id="rId6" Type="http://schemas.openxmlformats.org/officeDocument/2006/relationships/image" Target="../media/image115.png"/><Relationship Id="rId7" Type="http://schemas.openxmlformats.org/officeDocument/2006/relationships/image" Target="../media/image116.png"/><Relationship Id="rId8" Type="http://schemas.openxmlformats.org/officeDocument/2006/relationships/image" Target="../media/image117.png"/><Relationship Id="rId9" Type="http://schemas.openxmlformats.org/officeDocument/2006/relationships/image" Target="../media/image118.png"/><Relationship Id="rId10" Type="http://schemas.openxmlformats.org/officeDocument/2006/relationships/image" Target="../media/image45.png"/><Relationship Id="rId11" Type="http://schemas.openxmlformats.org/officeDocument/2006/relationships/image" Target="../media/image119.png"/><Relationship Id="rId12" Type="http://schemas.openxmlformats.org/officeDocument/2006/relationships/image" Target="../media/image120.png"/><Relationship Id="rId13" Type="http://schemas.openxmlformats.org/officeDocument/2006/relationships/image" Target="../media/image121.png"/><Relationship Id="rId14" Type="http://schemas.openxmlformats.org/officeDocument/2006/relationships/image" Target="../media/image12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123.png"/><Relationship Id="rId4" Type="http://schemas.openxmlformats.org/officeDocument/2006/relationships/image" Target="../media/image124.png"/><Relationship Id="rId5" Type="http://schemas.openxmlformats.org/officeDocument/2006/relationships/image" Target="../media/image125.png"/><Relationship Id="rId6" Type="http://schemas.openxmlformats.org/officeDocument/2006/relationships/image" Target="../media/image126.png"/><Relationship Id="rId7" Type="http://schemas.openxmlformats.org/officeDocument/2006/relationships/image" Target="../media/image127.png"/><Relationship Id="rId8" Type="http://schemas.openxmlformats.org/officeDocument/2006/relationships/image" Target="../media/image12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8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29850" y="1571625"/>
            <a:ext cx="7143750" cy="7143750"/>
            <a:chOff x="0" y="0"/>
            <a:chExt cx="9525000" cy="952500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9525000" cy="9525000"/>
            </a:xfrm>
            <a:custGeom>
              <a:avLst/>
              <a:gdLst/>
              <a:ahLst/>
              <a:cxnLst/>
              <a:rect r="r" b="b" t="t" l="l"/>
              <a:pathLst>
                <a:path h="9525000" w="9525000">
                  <a:moveTo>
                    <a:pt x="0" y="0"/>
                  </a:moveTo>
                  <a:lnTo>
                    <a:pt x="9525000" y="0"/>
                  </a:lnTo>
                  <a:lnTo>
                    <a:pt x="9525000" y="9525000"/>
                  </a:lnTo>
                  <a:lnTo>
                    <a:pt x="0" y="9525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28688" y="7872412"/>
            <a:ext cx="16430625" cy="1557338"/>
            <a:chOff x="0" y="0"/>
            <a:chExt cx="21907500" cy="207645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21907500" cy="2076450"/>
            </a:xfrm>
            <a:custGeom>
              <a:avLst/>
              <a:gdLst/>
              <a:ahLst/>
              <a:cxnLst/>
              <a:rect r="r" b="b" t="t" l="l"/>
              <a:pathLst>
                <a:path h="2076450" w="21907500">
                  <a:moveTo>
                    <a:pt x="0" y="0"/>
                  </a:moveTo>
                  <a:lnTo>
                    <a:pt x="21907500" y="0"/>
                  </a:lnTo>
                  <a:lnTo>
                    <a:pt x="21907500" y="2076450"/>
                  </a:lnTo>
                  <a:lnTo>
                    <a:pt x="0" y="2076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28688" y="857250"/>
            <a:ext cx="4657725" cy="485775"/>
            <a:chOff x="0" y="0"/>
            <a:chExt cx="6210300" cy="64770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6210300" cy="647700"/>
            </a:xfrm>
            <a:custGeom>
              <a:avLst/>
              <a:gdLst/>
              <a:ahLst/>
              <a:cxnLst/>
              <a:rect r="r" b="b" t="t" l="l"/>
              <a:pathLst>
                <a:path h="647700" w="6210300">
                  <a:moveTo>
                    <a:pt x="0" y="0"/>
                  </a:moveTo>
                  <a:lnTo>
                    <a:pt x="6210300" y="0"/>
                  </a:lnTo>
                  <a:lnTo>
                    <a:pt x="6210300" y="647700"/>
                  </a:lnTo>
                  <a:lnTo>
                    <a:pt x="0" y="647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750" r="0" b="-275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415962" y="8243888"/>
            <a:ext cx="3943350" cy="1185862"/>
            <a:chOff x="0" y="0"/>
            <a:chExt cx="5257800" cy="1581150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5257800" cy="1581150"/>
            </a:xfrm>
            <a:custGeom>
              <a:avLst/>
              <a:gdLst/>
              <a:ahLst/>
              <a:cxnLst/>
              <a:rect r="r" b="b" t="t" l="l"/>
              <a:pathLst>
                <a:path h="1581150" w="5257800">
                  <a:moveTo>
                    <a:pt x="0" y="0"/>
                  </a:moveTo>
                  <a:lnTo>
                    <a:pt x="5257800" y="0"/>
                  </a:lnTo>
                  <a:lnTo>
                    <a:pt x="5257800" y="1581150"/>
                  </a:lnTo>
                  <a:lnTo>
                    <a:pt x="0" y="1581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928688" y="1619250"/>
            <a:ext cx="17252156" cy="1718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25"/>
              </a:lnSpc>
            </a:pPr>
            <a:r>
              <a:rPr lang="en-US" sz="585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Artificial Intelligence &amp;</a:t>
            </a:r>
          </a:p>
          <a:p>
            <a:pPr algn="l">
              <a:lnSpc>
                <a:spcPts val="6725"/>
              </a:lnSpc>
            </a:pPr>
            <a:r>
              <a:rPr lang="en-US" sz="585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 Machine Learning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28688" y="3499399"/>
            <a:ext cx="16430625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Twitter Sentiment Analysis Using Logistic Regression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200150" y="1007269"/>
            <a:ext cx="242888" cy="185738"/>
            <a:chOff x="0" y="0"/>
            <a:chExt cx="323850" cy="247650"/>
          </a:xfrm>
        </p:grpSpPr>
        <p:sp>
          <p:nvSpPr>
            <p:cNvPr name="Freeform 15" id="15" descr="image.png"/>
            <p:cNvSpPr/>
            <p:nvPr/>
          </p:nvSpPr>
          <p:spPr>
            <a:xfrm flipH="false" flipV="false" rot="0">
              <a:off x="0" y="0"/>
              <a:ext cx="323850" cy="247650"/>
            </a:xfrm>
            <a:custGeom>
              <a:avLst/>
              <a:gdLst/>
              <a:ahLst/>
              <a:cxnLst/>
              <a:rect r="r" b="b" t="t" l="l"/>
              <a:pathLst>
                <a:path h="247650" w="323850">
                  <a:moveTo>
                    <a:pt x="0" y="0"/>
                  </a:moveTo>
                  <a:lnTo>
                    <a:pt x="323850" y="0"/>
                  </a:lnTo>
                  <a:lnTo>
                    <a:pt x="323850" y="247650"/>
                  </a:lnTo>
                  <a:lnTo>
                    <a:pt x="0" y="247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3846" r="0" b="-3846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928688" y="8424862"/>
            <a:ext cx="5460682" cy="376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Aditya Gupta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28688" y="8848725"/>
            <a:ext cx="520065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B.Tech – Computer Science &amp; Engineering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28688" y="9163050"/>
            <a:ext cx="520065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IILM University, Greater Noida, U.P. | Session 2025–2029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716000" y="8410575"/>
            <a:ext cx="3343275" cy="290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025"/>
              </a:lnSpc>
            </a:pPr>
            <a:r>
              <a:rPr lang="en-US" sz="1687" b="true">
                <a:solidFill>
                  <a:srgbClr val="38BDF8"/>
                </a:solidFill>
                <a:latin typeface="Arimo Bold"/>
                <a:ea typeface="Arimo Bold"/>
                <a:cs typeface="Arimo Bold"/>
                <a:sym typeface="Arimo Bold"/>
              </a:rPr>
              <a:t>Artificial Intelligence Internship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716000" y="8734425"/>
            <a:ext cx="3343275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55"/>
              </a:lnSpc>
            </a:pPr>
            <a:r>
              <a:rPr lang="en-US" sz="1462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Codec Technologies Pvt. Ltd.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716000" y="9005887"/>
            <a:ext cx="3343275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55"/>
              </a:lnSpc>
            </a:pPr>
            <a:r>
              <a:rPr lang="en-US" sz="1462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30 July 2026 – 30 August 2026 | 30 Days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716125" y="-1428750"/>
            <a:ext cx="5000625" cy="5000625"/>
            <a:chOff x="0" y="0"/>
            <a:chExt cx="6667500" cy="66675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6667500" cy="6667500"/>
            </a:xfrm>
            <a:custGeom>
              <a:avLst/>
              <a:gdLst/>
              <a:ahLst/>
              <a:cxnLst/>
              <a:rect r="r" b="b" t="t" l="l"/>
              <a:pathLst>
                <a:path h="6667500" w="6667500">
                  <a:moveTo>
                    <a:pt x="0" y="0"/>
                  </a:moveTo>
                  <a:lnTo>
                    <a:pt x="6667500" y="0"/>
                  </a:lnTo>
                  <a:lnTo>
                    <a:pt x="6667500" y="6667500"/>
                  </a:lnTo>
                  <a:lnTo>
                    <a:pt x="0" y="6667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785813" y="639832"/>
            <a:ext cx="3468934" cy="469228"/>
            <a:chOff x="0" y="0"/>
            <a:chExt cx="3943350" cy="53340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3943350" cy="533400"/>
            </a:xfrm>
            <a:custGeom>
              <a:avLst/>
              <a:gdLst/>
              <a:ahLst/>
              <a:cxnLst/>
              <a:rect r="r" b="b" t="t" l="l"/>
              <a:pathLst>
                <a:path h="533400" w="3943350">
                  <a:moveTo>
                    <a:pt x="0" y="0"/>
                  </a:moveTo>
                  <a:lnTo>
                    <a:pt x="3943350" y="0"/>
                  </a:lnTo>
                  <a:lnTo>
                    <a:pt x="394335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076" r="0" b="-3078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785812" y="2125932"/>
            <a:ext cx="4857750" cy="7518130"/>
            <a:chOff x="0" y="0"/>
            <a:chExt cx="6477000" cy="10024174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6477000" cy="10024110"/>
            </a:xfrm>
            <a:custGeom>
              <a:avLst/>
              <a:gdLst/>
              <a:ahLst/>
              <a:cxnLst/>
              <a:rect r="r" b="b" t="t" l="l"/>
              <a:pathLst>
                <a:path h="10024110" w="6477000">
                  <a:moveTo>
                    <a:pt x="0" y="0"/>
                  </a:moveTo>
                  <a:lnTo>
                    <a:pt x="6477000" y="0"/>
                  </a:lnTo>
                  <a:lnTo>
                    <a:pt x="6477000" y="10024110"/>
                  </a:lnTo>
                  <a:lnTo>
                    <a:pt x="0" y="10024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75" r="0" b="-76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6072188" y="2125932"/>
            <a:ext cx="5586412" cy="2334444"/>
            <a:chOff x="0" y="0"/>
            <a:chExt cx="7448550" cy="3112592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7448550" cy="3112643"/>
            </a:xfrm>
            <a:custGeom>
              <a:avLst/>
              <a:gdLst/>
              <a:ahLst/>
              <a:cxnLst/>
              <a:rect r="r" b="b" t="t" l="l"/>
              <a:pathLst>
                <a:path h="3112643" w="7448550">
                  <a:moveTo>
                    <a:pt x="0" y="0"/>
                  </a:moveTo>
                  <a:lnTo>
                    <a:pt x="7448550" y="0"/>
                  </a:lnTo>
                  <a:lnTo>
                    <a:pt x="7448550" y="3112643"/>
                  </a:lnTo>
                  <a:lnTo>
                    <a:pt x="0" y="31126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492" r="0" b="-49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915775" y="2125932"/>
            <a:ext cx="5586412" cy="2334444"/>
            <a:chOff x="0" y="0"/>
            <a:chExt cx="7448550" cy="3112592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7448550" cy="3112643"/>
            </a:xfrm>
            <a:custGeom>
              <a:avLst/>
              <a:gdLst/>
              <a:ahLst/>
              <a:cxnLst/>
              <a:rect r="r" b="b" t="t" l="l"/>
              <a:pathLst>
                <a:path h="3112643" w="7448550">
                  <a:moveTo>
                    <a:pt x="0" y="0"/>
                  </a:moveTo>
                  <a:lnTo>
                    <a:pt x="7448550" y="0"/>
                  </a:lnTo>
                  <a:lnTo>
                    <a:pt x="7448550" y="3112643"/>
                  </a:lnTo>
                  <a:lnTo>
                    <a:pt x="0" y="31126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492" r="0" b="-49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6072188" y="4717552"/>
            <a:ext cx="5586412" cy="2334663"/>
            <a:chOff x="0" y="0"/>
            <a:chExt cx="7448550" cy="3112884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7448550" cy="3112897"/>
            </a:xfrm>
            <a:custGeom>
              <a:avLst/>
              <a:gdLst/>
              <a:ahLst/>
              <a:cxnLst/>
              <a:rect r="r" b="b" t="t" l="l"/>
              <a:pathLst>
                <a:path h="3112897" w="7448550">
                  <a:moveTo>
                    <a:pt x="0" y="0"/>
                  </a:moveTo>
                  <a:lnTo>
                    <a:pt x="7448550" y="0"/>
                  </a:lnTo>
                  <a:lnTo>
                    <a:pt x="7448550" y="3112897"/>
                  </a:lnTo>
                  <a:lnTo>
                    <a:pt x="0" y="31128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181" r="0" b="-181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1915775" y="4717552"/>
            <a:ext cx="5586412" cy="2334663"/>
            <a:chOff x="0" y="0"/>
            <a:chExt cx="7448550" cy="3112884"/>
          </a:xfrm>
        </p:grpSpPr>
        <p:sp>
          <p:nvSpPr>
            <p:cNvPr name="Freeform 15" id="15" descr="image.png"/>
            <p:cNvSpPr/>
            <p:nvPr/>
          </p:nvSpPr>
          <p:spPr>
            <a:xfrm flipH="false" flipV="false" rot="0">
              <a:off x="0" y="0"/>
              <a:ext cx="7448550" cy="3112897"/>
            </a:xfrm>
            <a:custGeom>
              <a:avLst/>
              <a:gdLst/>
              <a:ahLst/>
              <a:cxnLst/>
              <a:rect r="r" b="b" t="t" l="l"/>
              <a:pathLst>
                <a:path h="3112897" w="7448550">
                  <a:moveTo>
                    <a:pt x="0" y="0"/>
                  </a:moveTo>
                  <a:lnTo>
                    <a:pt x="7448550" y="0"/>
                  </a:lnTo>
                  <a:lnTo>
                    <a:pt x="7448550" y="3112897"/>
                  </a:lnTo>
                  <a:lnTo>
                    <a:pt x="0" y="31128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181" r="0" b="-181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6072188" y="7309399"/>
            <a:ext cx="11430000" cy="2334663"/>
            <a:chOff x="0" y="0"/>
            <a:chExt cx="15240000" cy="3112884"/>
          </a:xfrm>
        </p:grpSpPr>
        <p:sp>
          <p:nvSpPr>
            <p:cNvPr name="Freeform 17" id="17" descr="image.png"/>
            <p:cNvSpPr/>
            <p:nvPr/>
          </p:nvSpPr>
          <p:spPr>
            <a:xfrm flipH="false" flipV="false" rot="0">
              <a:off x="0" y="0"/>
              <a:ext cx="15240000" cy="3112897"/>
            </a:xfrm>
            <a:custGeom>
              <a:avLst/>
              <a:gdLst/>
              <a:ahLst/>
              <a:cxnLst/>
              <a:rect r="r" b="b" t="t" l="l"/>
              <a:pathLst>
                <a:path h="3112897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3112897"/>
                  </a:lnTo>
                  <a:lnTo>
                    <a:pt x="0" y="31128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181" r="0" b="-181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947772" y="1342558"/>
            <a:ext cx="3518672" cy="530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42"/>
              </a:lnSpc>
            </a:pPr>
            <a:r>
              <a:rPr lang="en-US" sz="3369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Candidate Profile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85838" y="750094"/>
            <a:ext cx="178594" cy="185738"/>
            <a:chOff x="0" y="0"/>
            <a:chExt cx="238125" cy="247650"/>
          </a:xfrm>
        </p:grpSpPr>
        <p:sp>
          <p:nvSpPr>
            <p:cNvPr name="Freeform 20" id="20" descr="image.png"/>
            <p:cNvSpPr/>
            <p:nvPr/>
          </p:nvSpPr>
          <p:spPr>
            <a:xfrm flipH="false" flipV="false" rot="0">
              <a:off x="0" y="0"/>
              <a:ext cx="238125" cy="247650"/>
            </a:xfrm>
            <a:custGeom>
              <a:avLst/>
              <a:gdLst/>
              <a:ahLst/>
              <a:cxnLst/>
              <a:rect r="r" b="b" t="t" l="l"/>
              <a:pathLst>
                <a:path h="247650" w="238125">
                  <a:moveTo>
                    <a:pt x="0" y="0"/>
                  </a:moveTo>
                  <a:lnTo>
                    <a:pt x="238125" y="0"/>
                  </a:lnTo>
                  <a:lnTo>
                    <a:pt x="238125" y="247650"/>
                  </a:lnTo>
                  <a:lnTo>
                    <a:pt x="0" y="247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1774" r="0" b="-1774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2571750" y="4484713"/>
            <a:ext cx="1285875" cy="1285875"/>
            <a:chOff x="0" y="0"/>
            <a:chExt cx="1714500" cy="1714500"/>
          </a:xfrm>
        </p:grpSpPr>
        <p:sp>
          <p:nvSpPr>
            <p:cNvPr name="Freeform 22" id="22" descr="image.png"/>
            <p:cNvSpPr/>
            <p:nvPr/>
          </p:nvSpPr>
          <p:spPr>
            <a:xfrm flipH="false" flipV="false" rot="0">
              <a:off x="0" y="0"/>
              <a:ext cx="1714500" cy="1714500"/>
            </a:xfrm>
            <a:custGeom>
              <a:avLst/>
              <a:gdLst/>
              <a:ahLst/>
              <a:cxnLst/>
              <a:rect r="r" b="b" t="t" l="l"/>
              <a:pathLst>
                <a:path h="1714500" w="1714500">
                  <a:moveTo>
                    <a:pt x="0" y="0"/>
                  </a:moveTo>
                  <a:lnTo>
                    <a:pt x="1714500" y="0"/>
                  </a:lnTo>
                  <a:lnTo>
                    <a:pt x="1714500" y="1714500"/>
                  </a:lnTo>
                  <a:lnTo>
                    <a:pt x="0" y="1714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555" r="0" b="-555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534477" y="6037288"/>
            <a:ext cx="336042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315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Aditya Gupta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14438" y="6637363"/>
            <a:ext cx="4000500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62"/>
              </a:lnSpc>
            </a:pPr>
            <a:r>
              <a:rPr lang="en-US" sz="1687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B.Tech – Computer Science &amp; Engineering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2871788" y="4856188"/>
            <a:ext cx="685800" cy="542925"/>
            <a:chOff x="0" y="0"/>
            <a:chExt cx="914400" cy="723900"/>
          </a:xfrm>
        </p:grpSpPr>
        <p:sp>
          <p:nvSpPr>
            <p:cNvPr name="Freeform 26" id="26" descr="image.png"/>
            <p:cNvSpPr/>
            <p:nvPr/>
          </p:nvSpPr>
          <p:spPr>
            <a:xfrm flipH="false" flipV="false" rot="0">
              <a:off x="0" y="0"/>
              <a:ext cx="914400" cy="723900"/>
            </a:xfrm>
            <a:custGeom>
              <a:avLst/>
              <a:gdLst/>
              <a:ahLst/>
              <a:cxnLst/>
              <a:rect r="r" b="b" t="t" l="l"/>
              <a:pathLst>
                <a:path h="7239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723900"/>
                  </a:lnTo>
                  <a:lnTo>
                    <a:pt x="0" y="723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1315" r="0" b="-1315"/>
              </a:stretch>
            </a:blip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6443662" y="2973953"/>
            <a:ext cx="4886325" cy="233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64748B"/>
                </a:solidFill>
                <a:latin typeface="Arimo Bold"/>
                <a:ea typeface="Arimo Bold"/>
                <a:cs typeface="Arimo Bold"/>
                <a:sym typeface="Arimo Bold"/>
              </a:rPr>
              <a:t>PROGRAMME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443662" y="3273990"/>
            <a:ext cx="4886325" cy="319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B.Tech Computer Science &amp; Engineering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287250" y="2973953"/>
            <a:ext cx="4886325" cy="233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64748B"/>
                </a:solidFill>
                <a:latin typeface="Arimo Bold"/>
                <a:ea typeface="Arimo Bold"/>
                <a:cs typeface="Arimo Bold"/>
                <a:sym typeface="Arimo Bold"/>
              </a:rPr>
              <a:t>INSTITUTE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287250" y="3273990"/>
            <a:ext cx="4886325" cy="319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IILM University, Greater Noida, U.P.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443662" y="5565800"/>
            <a:ext cx="4886325" cy="233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64748B"/>
                </a:solidFill>
                <a:latin typeface="Arimo Bold"/>
                <a:ea typeface="Arimo Bold"/>
                <a:cs typeface="Arimo Bold"/>
                <a:sym typeface="Arimo Bold"/>
              </a:rPr>
              <a:t>SESSION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443662" y="5865838"/>
            <a:ext cx="4886325" cy="319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2025–2029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287250" y="5565800"/>
            <a:ext cx="4886325" cy="233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64748B"/>
                </a:solidFill>
                <a:latin typeface="Arimo Bold"/>
                <a:ea typeface="Arimo Bold"/>
                <a:cs typeface="Arimo Bold"/>
                <a:sym typeface="Arimo Bold"/>
              </a:rPr>
              <a:t>INTERNSHIP DOMAIN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287250" y="5865838"/>
            <a:ext cx="4886325" cy="319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Artificial Intelligence &amp; Machine Learning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6443662" y="8157639"/>
            <a:ext cx="10729912" cy="233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64748B"/>
                </a:solidFill>
                <a:latin typeface="Arimo Bold"/>
                <a:ea typeface="Arimo Bold"/>
                <a:cs typeface="Arimo Bold"/>
                <a:sym typeface="Arimo Bold"/>
              </a:rPr>
              <a:t>DURATION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6443662" y="8457676"/>
            <a:ext cx="10729912" cy="319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30 Days | 30 July – 30 August 2026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714500" y="6286500"/>
            <a:ext cx="5715000" cy="5715000"/>
            <a:chOff x="0" y="0"/>
            <a:chExt cx="7620000" cy="7620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7620000" cy="7620000"/>
            </a:xfrm>
            <a:custGeom>
              <a:avLst/>
              <a:gdLst/>
              <a:ahLst/>
              <a:cxnLst/>
              <a:rect r="r" b="b" t="t" l="l"/>
              <a:pathLst>
                <a:path h="7620000" w="7620000">
                  <a:moveTo>
                    <a:pt x="0" y="0"/>
                  </a:moveTo>
                  <a:lnTo>
                    <a:pt x="7620000" y="0"/>
                  </a:lnTo>
                  <a:lnTo>
                    <a:pt x="7620000" y="7620000"/>
                  </a:lnTo>
                  <a:lnTo>
                    <a:pt x="0" y="7620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785812" y="474546"/>
            <a:ext cx="4720093" cy="568441"/>
            <a:chOff x="0" y="0"/>
            <a:chExt cx="4429125" cy="53340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4429125" cy="533400"/>
            </a:xfrm>
            <a:custGeom>
              <a:avLst/>
              <a:gdLst/>
              <a:ahLst/>
              <a:cxnLst/>
              <a:rect r="r" b="b" t="t" l="l"/>
              <a:pathLst>
                <a:path h="533400" w="4429125">
                  <a:moveTo>
                    <a:pt x="0" y="0"/>
                  </a:moveTo>
                  <a:lnTo>
                    <a:pt x="4429125" y="0"/>
                  </a:lnTo>
                  <a:lnTo>
                    <a:pt x="4429125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326" r="0" b="-3326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785812" y="2125932"/>
            <a:ext cx="16716375" cy="7518130"/>
            <a:chOff x="0" y="0"/>
            <a:chExt cx="22288500" cy="10024174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22288500" cy="10024110"/>
            </a:xfrm>
            <a:custGeom>
              <a:avLst/>
              <a:gdLst/>
              <a:ahLst/>
              <a:cxnLst/>
              <a:rect r="r" b="b" t="t" l="l"/>
              <a:pathLst>
                <a:path h="10024110" w="22288500">
                  <a:moveTo>
                    <a:pt x="0" y="0"/>
                  </a:moveTo>
                  <a:lnTo>
                    <a:pt x="22288500" y="0"/>
                  </a:lnTo>
                  <a:lnTo>
                    <a:pt x="22288500" y="10024110"/>
                  </a:lnTo>
                  <a:lnTo>
                    <a:pt x="0" y="10024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75" r="0" b="-76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85812" y="5427907"/>
            <a:ext cx="5333924" cy="2939653"/>
            <a:chOff x="0" y="0"/>
            <a:chExt cx="7111898" cy="3919538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7111873" cy="3919474"/>
            </a:xfrm>
            <a:custGeom>
              <a:avLst/>
              <a:gdLst/>
              <a:ahLst/>
              <a:cxnLst/>
              <a:rect r="r" b="b" t="t" l="l"/>
              <a:pathLst>
                <a:path h="3919474" w="7111873">
                  <a:moveTo>
                    <a:pt x="0" y="0"/>
                  </a:moveTo>
                  <a:lnTo>
                    <a:pt x="7111873" y="0"/>
                  </a:lnTo>
                  <a:lnTo>
                    <a:pt x="7111873" y="3919474"/>
                  </a:lnTo>
                  <a:lnTo>
                    <a:pt x="0" y="39194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13" r="0" b="-214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476924" y="5427907"/>
            <a:ext cx="5333924" cy="2939653"/>
            <a:chOff x="0" y="0"/>
            <a:chExt cx="7111898" cy="3919538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7111873" cy="3919474"/>
            </a:xfrm>
            <a:custGeom>
              <a:avLst/>
              <a:gdLst/>
              <a:ahLst/>
              <a:cxnLst/>
              <a:rect r="r" b="b" t="t" l="l"/>
              <a:pathLst>
                <a:path h="3919474" w="7111873">
                  <a:moveTo>
                    <a:pt x="0" y="0"/>
                  </a:moveTo>
                  <a:lnTo>
                    <a:pt x="7111873" y="0"/>
                  </a:lnTo>
                  <a:lnTo>
                    <a:pt x="7111873" y="3919474"/>
                  </a:lnTo>
                  <a:lnTo>
                    <a:pt x="0" y="39194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213" r="0" b="-214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2168035" y="5427907"/>
            <a:ext cx="5334152" cy="2939653"/>
            <a:chOff x="0" y="0"/>
            <a:chExt cx="7112203" cy="3919538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7112254" cy="3919474"/>
            </a:xfrm>
            <a:custGeom>
              <a:avLst/>
              <a:gdLst/>
              <a:ahLst/>
              <a:cxnLst/>
              <a:rect r="r" b="b" t="t" l="l"/>
              <a:pathLst>
                <a:path h="3919474" w="7112254">
                  <a:moveTo>
                    <a:pt x="0" y="0"/>
                  </a:moveTo>
                  <a:lnTo>
                    <a:pt x="7112254" y="0"/>
                  </a:lnTo>
                  <a:lnTo>
                    <a:pt x="7112254" y="3919474"/>
                  </a:lnTo>
                  <a:lnTo>
                    <a:pt x="0" y="39194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215" r="0" b="-217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785812" y="1166812"/>
            <a:ext cx="17502188" cy="601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0"/>
              </a:lnSpc>
            </a:pPr>
            <a:r>
              <a:rPr lang="en-US" sz="3825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Codec Technologies &amp; AI Internship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85838" y="750094"/>
            <a:ext cx="207169" cy="185738"/>
            <a:chOff x="0" y="0"/>
            <a:chExt cx="276225" cy="247650"/>
          </a:xfrm>
        </p:grpSpPr>
        <p:sp>
          <p:nvSpPr>
            <p:cNvPr name="Freeform 16" id="16" descr="image.png"/>
            <p:cNvSpPr/>
            <p:nvPr/>
          </p:nvSpPr>
          <p:spPr>
            <a:xfrm flipH="false" flipV="false" rot="0">
              <a:off x="0" y="0"/>
              <a:ext cx="276225" cy="247650"/>
            </a:xfrm>
            <a:custGeom>
              <a:avLst/>
              <a:gdLst/>
              <a:ahLst/>
              <a:cxnLst/>
              <a:rect r="r" b="b" t="t" l="l"/>
              <a:pathLst>
                <a:path h="247650" w="276225">
                  <a:moveTo>
                    <a:pt x="0" y="0"/>
                  </a:moveTo>
                  <a:lnTo>
                    <a:pt x="276225" y="0"/>
                  </a:lnTo>
                  <a:lnTo>
                    <a:pt x="276225" y="247650"/>
                  </a:lnTo>
                  <a:lnTo>
                    <a:pt x="0" y="247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2051" r="0" b="-2051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157288" y="5789857"/>
            <a:ext cx="4590974" cy="195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85"/>
              </a:lnSpc>
            </a:pPr>
            <a:r>
              <a:rPr lang="en-US" sz="1237" b="true">
                <a:solidFill>
                  <a:srgbClr val="2563EB"/>
                </a:solidFill>
                <a:latin typeface="Arimo Bold"/>
                <a:ea typeface="Arimo Bold"/>
                <a:cs typeface="Arimo Bold"/>
                <a:sym typeface="Arimo Bold"/>
              </a:rPr>
              <a:t>CARD 1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57288" y="6080369"/>
            <a:ext cx="4820526" cy="376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Artificial Intelligence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57288" y="6561382"/>
            <a:ext cx="4590974" cy="376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0"/>
              </a:lnSpc>
            </a:pPr>
            <a:r>
              <a:rPr lang="en-US" sz="1575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Foundation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57288" y="6956974"/>
            <a:ext cx="4590974" cy="996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0"/>
              </a:lnSpc>
            </a:pPr>
            <a:r>
              <a:rPr lang="en-US" sz="1575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Understanding AI, Machine Learning, supervised learning, classification, and the overall machine learning workflow.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848399" y="5832719"/>
            <a:ext cx="4590974" cy="195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85"/>
              </a:lnSpc>
            </a:pPr>
            <a:r>
              <a:rPr lang="en-US" sz="1237" b="true">
                <a:solidFill>
                  <a:srgbClr val="2563EB"/>
                </a:solidFill>
                <a:latin typeface="Arimo Bold"/>
                <a:ea typeface="Arimo Bold"/>
                <a:cs typeface="Arimo Bold"/>
                <a:sym typeface="Arimo Bold"/>
              </a:rPr>
              <a:t>CARD 2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848399" y="6123232"/>
            <a:ext cx="4820526" cy="376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Practical Project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848399" y="6604244"/>
            <a:ext cx="4590974" cy="376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0"/>
              </a:lnSpc>
            </a:pPr>
            <a:r>
              <a:rPr lang="en-US" sz="1575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Twitter Sentiment Analysis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848399" y="6999837"/>
            <a:ext cx="4590974" cy="996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0"/>
              </a:lnSpc>
            </a:pPr>
            <a:r>
              <a:rPr lang="en-US" sz="1575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Applying NLP and machine learning techniques to classify tweets into positive and negative sentiment categories.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539510" y="5789857"/>
            <a:ext cx="4591202" cy="195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85"/>
              </a:lnSpc>
            </a:pPr>
            <a:r>
              <a:rPr lang="en-US" sz="1237" b="true">
                <a:solidFill>
                  <a:srgbClr val="2563EB"/>
                </a:solidFill>
                <a:latin typeface="Arimo Bold"/>
                <a:ea typeface="Arimo Bold"/>
                <a:cs typeface="Arimo Bold"/>
                <a:sym typeface="Arimo Bold"/>
              </a:rPr>
              <a:t>CARD 3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539510" y="6080369"/>
            <a:ext cx="4820755" cy="376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Industry Exposure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539510" y="6561382"/>
            <a:ext cx="4591202" cy="376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0"/>
              </a:lnSpc>
            </a:pPr>
            <a:r>
              <a:rPr lang="en-US" sz="1575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Practical Workflow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539510" y="6956974"/>
            <a:ext cx="4591202" cy="996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0"/>
              </a:lnSpc>
            </a:pPr>
            <a:r>
              <a:rPr lang="en-US" sz="1575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Working through data acquisition, preprocessing, feature extraction, model development, evaluation, prediction, and model persistence.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716125" y="-1428750"/>
            <a:ext cx="5000625" cy="5000625"/>
            <a:chOff x="0" y="0"/>
            <a:chExt cx="6667500" cy="66675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6667500" cy="6667500"/>
            </a:xfrm>
            <a:custGeom>
              <a:avLst/>
              <a:gdLst/>
              <a:ahLst/>
              <a:cxnLst/>
              <a:rect r="r" b="b" t="t" l="l"/>
              <a:pathLst>
                <a:path h="6667500" w="6667500">
                  <a:moveTo>
                    <a:pt x="0" y="0"/>
                  </a:moveTo>
                  <a:lnTo>
                    <a:pt x="6667500" y="0"/>
                  </a:lnTo>
                  <a:lnTo>
                    <a:pt x="6667500" y="6667500"/>
                  </a:lnTo>
                  <a:lnTo>
                    <a:pt x="0" y="6667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785813" y="494308"/>
            <a:ext cx="4232672" cy="548680"/>
            <a:chOff x="0" y="0"/>
            <a:chExt cx="4114800" cy="53340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4114800" cy="533400"/>
            </a:xfrm>
            <a:custGeom>
              <a:avLst/>
              <a:gdLst/>
              <a:ahLst/>
              <a:cxnLst/>
              <a:rect r="r" b="b" t="t" l="l"/>
              <a:pathLst>
                <a:path h="533400" w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464" r="0" b="-3466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785812" y="2125932"/>
            <a:ext cx="16716375" cy="7518130"/>
            <a:chOff x="0" y="0"/>
            <a:chExt cx="22288500" cy="10024174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22288500" cy="10024110"/>
            </a:xfrm>
            <a:custGeom>
              <a:avLst/>
              <a:gdLst/>
              <a:ahLst/>
              <a:cxnLst/>
              <a:rect r="r" b="b" t="t" l="l"/>
              <a:pathLst>
                <a:path h="10024110" w="22288500">
                  <a:moveTo>
                    <a:pt x="0" y="0"/>
                  </a:moveTo>
                  <a:lnTo>
                    <a:pt x="22288500" y="0"/>
                  </a:lnTo>
                  <a:lnTo>
                    <a:pt x="22288500" y="10024110"/>
                  </a:lnTo>
                  <a:lnTo>
                    <a:pt x="0" y="10024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75" r="0" b="-76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85812" y="7376370"/>
            <a:ext cx="16716375" cy="1057275"/>
            <a:chOff x="0" y="0"/>
            <a:chExt cx="22288500" cy="140970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22288500" cy="1409700"/>
            </a:xfrm>
            <a:custGeom>
              <a:avLst/>
              <a:gdLst/>
              <a:ahLst/>
              <a:cxnLst/>
              <a:rect r="r" b="b" t="t" l="l"/>
              <a:pathLst>
                <a:path h="1409700" w="22288500">
                  <a:moveTo>
                    <a:pt x="0" y="0"/>
                  </a:moveTo>
                  <a:lnTo>
                    <a:pt x="22288500" y="0"/>
                  </a:lnTo>
                  <a:lnTo>
                    <a:pt x="22288500" y="1409700"/>
                  </a:lnTo>
                  <a:lnTo>
                    <a:pt x="0" y="1409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675" r="0" b="-67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85812" y="5504707"/>
            <a:ext cx="4018359" cy="1585912"/>
            <a:chOff x="0" y="0"/>
            <a:chExt cx="5357812" cy="2114550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5357749" cy="2114550"/>
            </a:xfrm>
            <a:custGeom>
              <a:avLst/>
              <a:gdLst/>
              <a:ahLst/>
              <a:cxnLst/>
              <a:rect r="r" b="b" t="t" l="l"/>
              <a:pathLst>
                <a:path h="2114550" w="5357749">
                  <a:moveTo>
                    <a:pt x="0" y="0"/>
                  </a:moveTo>
                  <a:lnTo>
                    <a:pt x="5357749" y="0"/>
                  </a:lnTo>
                  <a:lnTo>
                    <a:pt x="5357749" y="2114550"/>
                  </a:lnTo>
                  <a:lnTo>
                    <a:pt x="0" y="2114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316" r="-1" b="-315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5018484" y="5504707"/>
            <a:ext cx="4018359" cy="1585912"/>
            <a:chOff x="0" y="0"/>
            <a:chExt cx="5357812" cy="2114550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5357749" cy="2114550"/>
            </a:xfrm>
            <a:custGeom>
              <a:avLst/>
              <a:gdLst/>
              <a:ahLst/>
              <a:cxnLst/>
              <a:rect r="r" b="b" t="t" l="l"/>
              <a:pathLst>
                <a:path h="2114550" w="5357749">
                  <a:moveTo>
                    <a:pt x="0" y="0"/>
                  </a:moveTo>
                  <a:lnTo>
                    <a:pt x="5357749" y="0"/>
                  </a:lnTo>
                  <a:lnTo>
                    <a:pt x="5357749" y="2114550"/>
                  </a:lnTo>
                  <a:lnTo>
                    <a:pt x="0" y="2114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316" r="-1" b="-315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251156" y="5504707"/>
            <a:ext cx="4018359" cy="1585912"/>
            <a:chOff x="0" y="0"/>
            <a:chExt cx="5357812" cy="2114550"/>
          </a:xfrm>
        </p:grpSpPr>
        <p:sp>
          <p:nvSpPr>
            <p:cNvPr name="Freeform 15" id="15" descr="image.png"/>
            <p:cNvSpPr/>
            <p:nvPr/>
          </p:nvSpPr>
          <p:spPr>
            <a:xfrm flipH="false" flipV="false" rot="0">
              <a:off x="0" y="0"/>
              <a:ext cx="5357749" cy="2114550"/>
            </a:xfrm>
            <a:custGeom>
              <a:avLst/>
              <a:gdLst/>
              <a:ahLst/>
              <a:cxnLst/>
              <a:rect r="r" b="b" t="t" l="l"/>
              <a:pathLst>
                <a:path h="2114550" w="5357749">
                  <a:moveTo>
                    <a:pt x="0" y="0"/>
                  </a:moveTo>
                  <a:lnTo>
                    <a:pt x="5357749" y="0"/>
                  </a:lnTo>
                  <a:lnTo>
                    <a:pt x="5357749" y="2114550"/>
                  </a:lnTo>
                  <a:lnTo>
                    <a:pt x="0" y="2114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316" r="-1" b="-315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3483828" y="5504707"/>
            <a:ext cx="4018359" cy="1585912"/>
            <a:chOff x="0" y="0"/>
            <a:chExt cx="5357812" cy="2114550"/>
          </a:xfrm>
        </p:grpSpPr>
        <p:sp>
          <p:nvSpPr>
            <p:cNvPr name="Freeform 17" id="17" descr="image.png"/>
            <p:cNvSpPr/>
            <p:nvPr/>
          </p:nvSpPr>
          <p:spPr>
            <a:xfrm flipH="false" flipV="false" rot="0">
              <a:off x="0" y="0"/>
              <a:ext cx="5357749" cy="2114550"/>
            </a:xfrm>
            <a:custGeom>
              <a:avLst/>
              <a:gdLst/>
              <a:ahLst/>
              <a:cxnLst/>
              <a:rect r="r" b="b" t="t" l="l"/>
              <a:pathLst>
                <a:path h="2114550" w="5357749">
                  <a:moveTo>
                    <a:pt x="0" y="0"/>
                  </a:moveTo>
                  <a:lnTo>
                    <a:pt x="5357749" y="0"/>
                  </a:lnTo>
                  <a:lnTo>
                    <a:pt x="5357749" y="2114550"/>
                  </a:lnTo>
                  <a:lnTo>
                    <a:pt x="0" y="2114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316" r="-1" b="-315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2537812" y="5804745"/>
            <a:ext cx="514350" cy="514350"/>
            <a:chOff x="0" y="0"/>
            <a:chExt cx="685800" cy="685800"/>
          </a:xfrm>
        </p:grpSpPr>
        <p:sp>
          <p:nvSpPr>
            <p:cNvPr name="Freeform 19" id="19" descr="image.png"/>
            <p:cNvSpPr/>
            <p:nvPr/>
          </p:nvSpPr>
          <p:spPr>
            <a:xfrm flipH="false" flipV="false" rot="0">
              <a:off x="0" y="0"/>
              <a:ext cx="685800" cy="685800"/>
            </a:xfrm>
            <a:custGeom>
              <a:avLst/>
              <a:gdLst/>
              <a:ahLst/>
              <a:cxnLst/>
              <a:rect r="r" b="b" t="t" l="l"/>
              <a:pathLst>
                <a:path h="685800" w="685800">
                  <a:moveTo>
                    <a:pt x="0" y="0"/>
                  </a:moveTo>
                  <a:lnTo>
                    <a:pt x="685800" y="0"/>
                  </a:lnTo>
                  <a:lnTo>
                    <a:pt x="6858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6770484" y="5804745"/>
            <a:ext cx="514350" cy="514350"/>
            <a:chOff x="0" y="0"/>
            <a:chExt cx="685800" cy="685800"/>
          </a:xfrm>
        </p:grpSpPr>
        <p:sp>
          <p:nvSpPr>
            <p:cNvPr name="Freeform 21" id="21" descr="image.png"/>
            <p:cNvSpPr/>
            <p:nvPr/>
          </p:nvSpPr>
          <p:spPr>
            <a:xfrm flipH="false" flipV="false" rot="0">
              <a:off x="0" y="0"/>
              <a:ext cx="685800" cy="685800"/>
            </a:xfrm>
            <a:custGeom>
              <a:avLst/>
              <a:gdLst/>
              <a:ahLst/>
              <a:cxnLst/>
              <a:rect r="r" b="b" t="t" l="l"/>
              <a:pathLst>
                <a:path h="685800" w="685800">
                  <a:moveTo>
                    <a:pt x="0" y="0"/>
                  </a:moveTo>
                  <a:lnTo>
                    <a:pt x="685800" y="0"/>
                  </a:lnTo>
                  <a:lnTo>
                    <a:pt x="6858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1003156" y="5804745"/>
            <a:ext cx="514350" cy="514350"/>
            <a:chOff x="0" y="0"/>
            <a:chExt cx="685800" cy="685800"/>
          </a:xfrm>
        </p:grpSpPr>
        <p:sp>
          <p:nvSpPr>
            <p:cNvPr name="Freeform 23" id="23" descr="image.png"/>
            <p:cNvSpPr/>
            <p:nvPr/>
          </p:nvSpPr>
          <p:spPr>
            <a:xfrm flipH="false" flipV="false" rot="0">
              <a:off x="0" y="0"/>
              <a:ext cx="685800" cy="685800"/>
            </a:xfrm>
            <a:custGeom>
              <a:avLst/>
              <a:gdLst/>
              <a:ahLst/>
              <a:cxnLst/>
              <a:rect r="r" b="b" t="t" l="l"/>
              <a:pathLst>
                <a:path h="685800" w="685800">
                  <a:moveTo>
                    <a:pt x="0" y="0"/>
                  </a:moveTo>
                  <a:lnTo>
                    <a:pt x="685800" y="0"/>
                  </a:lnTo>
                  <a:lnTo>
                    <a:pt x="6858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5235828" y="5804745"/>
            <a:ext cx="514350" cy="514350"/>
            <a:chOff x="0" y="0"/>
            <a:chExt cx="685800" cy="685800"/>
          </a:xfrm>
        </p:grpSpPr>
        <p:sp>
          <p:nvSpPr>
            <p:cNvPr name="Freeform 25" id="25" descr="image.png"/>
            <p:cNvSpPr/>
            <p:nvPr/>
          </p:nvSpPr>
          <p:spPr>
            <a:xfrm flipH="false" flipV="false" rot="0">
              <a:off x="0" y="0"/>
              <a:ext cx="685800" cy="685800"/>
            </a:xfrm>
            <a:custGeom>
              <a:avLst/>
              <a:gdLst/>
              <a:ahLst/>
              <a:cxnLst/>
              <a:rect r="r" b="b" t="t" l="l"/>
              <a:pathLst>
                <a:path h="685800" w="685800">
                  <a:moveTo>
                    <a:pt x="0" y="0"/>
                  </a:moveTo>
                  <a:lnTo>
                    <a:pt x="685800" y="0"/>
                  </a:lnTo>
                  <a:lnTo>
                    <a:pt x="6858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785812" y="1166812"/>
            <a:ext cx="17502188" cy="601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0"/>
              </a:lnSpc>
            </a:pPr>
            <a:r>
              <a:rPr lang="en-US" sz="3825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Bridging AI Theory and Practical NLP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985838" y="750094"/>
            <a:ext cx="207169" cy="185738"/>
            <a:chOff x="0" y="0"/>
            <a:chExt cx="276225" cy="247650"/>
          </a:xfrm>
        </p:grpSpPr>
        <p:sp>
          <p:nvSpPr>
            <p:cNvPr name="Freeform 28" id="28" descr="image.png"/>
            <p:cNvSpPr/>
            <p:nvPr/>
          </p:nvSpPr>
          <p:spPr>
            <a:xfrm flipH="false" flipV="false" rot="0">
              <a:off x="0" y="0"/>
              <a:ext cx="276225" cy="247650"/>
            </a:xfrm>
            <a:custGeom>
              <a:avLst/>
              <a:gdLst/>
              <a:ahLst/>
              <a:cxnLst/>
              <a:rect r="r" b="b" t="t" l="l"/>
              <a:pathLst>
                <a:path h="247650" w="276225">
                  <a:moveTo>
                    <a:pt x="0" y="0"/>
                  </a:moveTo>
                  <a:lnTo>
                    <a:pt x="276225" y="0"/>
                  </a:lnTo>
                  <a:lnTo>
                    <a:pt x="276225" y="247650"/>
                  </a:lnTo>
                  <a:lnTo>
                    <a:pt x="0" y="247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-2051" r="0" b="-2051"/>
              </a:stretch>
            </a:blip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925382" y="6471495"/>
            <a:ext cx="3739220" cy="319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Collect Data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158054" y="6471495"/>
            <a:ext cx="3739220" cy="319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Preprocess Text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390726" y="6471495"/>
            <a:ext cx="3739220" cy="319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Train Model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623398" y="6471495"/>
            <a:ext cx="3739220" cy="319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Predict Sentiment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714500" y="6286500"/>
            <a:ext cx="5715000" cy="5715000"/>
            <a:chOff x="0" y="0"/>
            <a:chExt cx="7620000" cy="7620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7620000" cy="7620000"/>
            </a:xfrm>
            <a:custGeom>
              <a:avLst/>
              <a:gdLst/>
              <a:ahLst/>
              <a:cxnLst/>
              <a:rect r="r" b="b" t="t" l="l"/>
              <a:pathLst>
                <a:path h="7620000" w="7620000">
                  <a:moveTo>
                    <a:pt x="0" y="0"/>
                  </a:moveTo>
                  <a:lnTo>
                    <a:pt x="7620000" y="0"/>
                  </a:lnTo>
                  <a:lnTo>
                    <a:pt x="7620000" y="7620000"/>
                  </a:lnTo>
                  <a:lnTo>
                    <a:pt x="0" y="7620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785813" y="547185"/>
            <a:ext cx="3833616" cy="495803"/>
            <a:chOff x="0" y="0"/>
            <a:chExt cx="4124325" cy="53340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4124325" cy="533400"/>
            </a:xfrm>
            <a:custGeom>
              <a:avLst/>
              <a:gdLst/>
              <a:ahLst/>
              <a:cxnLst/>
              <a:rect r="r" b="b" t="t" l="l"/>
              <a:pathLst>
                <a:path h="533400" w="4124325">
                  <a:moveTo>
                    <a:pt x="0" y="0"/>
                  </a:moveTo>
                  <a:lnTo>
                    <a:pt x="4124325" y="0"/>
                  </a:lnTo>
                  <a:lnTo>
                    <a:pt x="4124325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588" r="0" b="-359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785812" y="3359572"/>
            <a:ext cx="5381473" cy="2382441"/>
            <a:chOff x="0" y="0"/>
            <a:chExt cx="7175297" cy="3176588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7175246" cy="3176524"/>
            </a:xfrm>
            <a:custGeom>
              <a:avLst/>
              <a:gdLst/>
              <a:ahLst/>
              <a:cxnLst/>
              <a:rect r="r" b="b" t="t" l="l"/>
              <a:pathLst>
                <a:path h="3176524" w="7175246">
                  <a:moveTo>
                    <a:pt x="0" y="0"/>
                  </a:moveTo>
                  <a:lnTo>
                    <a:pt x="7175246" y="0"/>
                  </a:lnTo>
                  <a:lnTo>
                    <a:pt x="7175246" y="3176524"/>
                  </a:lnTo>
                  <a:lnTo>
                    <a:pt x="0" y="31765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9" r="0" b="-31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6453035" y="3359572"/>
            <a:ext cx="5381701" cy="2382441"/>
            <a:chOff x="0" y="0"/>
            <a:chExt cx="7175602" cy="3176588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7175627" cy="3176524"/>
            </a:xfrm>
            <a:custGeom>
              <a:avLst/>
              <a:gdLst/>
              <a:ahLst/>
              <a:cxnLst/>
              <a:rect r="r" b="b" t="t" l="l"/>
              <a:pathLst>
                <a:path h="3176524" w="7175627">
                  <a:moveTo>
                    <a:pt x="0" y="0"/>
                  </a:moveTo>
                  <a:lnTo>
                    <a:pt x="7175627" y="0"/>
                  </a:lnTo>
                  <a:lnTo>
                    <a:pt x="7175627" y="3176524"/>
                  </a:lnTo>
                  <a:lnTo>
                    <a:pt x="0" y="31765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01" t="0" r="-100" b="-2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120486" y="3359572"/>
            <a:ext cx="5381473" cy="2382441"/>
            <a:chOff x="0" y="0"/>
            <a:chExt cx="7175297" cy="3176588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7175246" cy="3176524"/>
            </a:xfrm>
            <a:custGeom>
              <a:avLst/>
              <a:gdLst/>
              <a:ahLst/>
              <a:cxnLst/>
              <a:rect r="r" b="b" t="t" l="l"/>
              <a:pathLst>
                <a:path h="3176524" w="7175246">
                  <a:moveTo>
                    <a:pt x="0" y="0"/>
                  </a:moveTo>
                  <a:lnTo>
                    <a:pt x="7175246" y="0"/>
                  </a:lnTo>
                  <a:lnTo>
                    <a:pt x="7175246" y="3176524"/>
                  </a:lnTo>
                  <a:lnTo>
                    <a:pt x="0" y="31765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29" r="0" b="-31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785812" y="6027763"/>
            <a:ext cx="5381473" cy="2382441"/>
            <a:chOff x="0" y="0"/>
            <a:chExt cx="7175297" cy="3176588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7175246" cy="3176524"/>
            </a:xfrm>
            <a:custGeom>
              <a:avLst/>
              <a:gdLst/>
              <a:ahLst/>
              <a:cxnLst/>
              <a:rect r="r" b="b" t="t" l="l"/>
              <a:pathLst>
                <a:path h="3176524" w="7175246">
                  <a:moveTo>
                    <a:pt x="0" y="0"/>
                  </a:moveTo>
                  <a:lnTo>
                    <a:pt x="7175246" y="0"/>
                  </a:lnTo>
                  <a:lnTo>
                    <a:pt x="7175246" y="3176524"/>
                  </a:lnTo>
                  <a:lnTo>
                    <a:pt x="0" y="31765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329" r="0" b="-33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6453035" y="6027763"/>
            <a:ext cx="5381701" cy="2382441"/>
            <a:chOff x="0" y="0"/>
            <a:chExt cx="7175602" cy="3176588"/>
          </a:xfrm>
        </p:grpSpPr>
        <p:sp>
          <p:nvSpPr>
            <p:cNvPr name="Freeform 15" id="15" descr="image.png"/>
            <p:cNvSpPr/>
            <p:nvPr/>
          </p:nvSpPr>
          <p:spPr>
            <a:xfrm flipH="false" flipV="false" rot="0">
              <a:off x="0" y="0"/>
              <a:ext cx="7175627" cy="3176524"/>
            </a:xfrm>
            <a:custGeom>
              <a:avLst/>
              <a:gdLst/>
              <a:ahLst/>
              <a:cxnLst/>
              <a:rect r="r" b="b" t="t" l="l"/>
              <a:pathLst>
                <a:path h="3176524" w="7175627">
                  <a:moveTo>
                    <a:pt x="0" y="0"/>
                  </a:moveTo>
                  <a:lnTo>
                    <a:pt x="7175627" y="0"/>
                  </a:lnTo>
                  <a:lnTo>
                    <a:pt x="7175627" y="3176524"/>
                  </a:lnTo>
                  <a:lnTo>
                    <a:pt x="0" y="31765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197" r="0" b="-199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2120486" y="6027763"/>
            <a:ext cx="5381473" cy="2382441"/>
            <a:chOff x="0" y="0"/>
            <a:chExt cx="7175297" cy="3176588"/>
          </a:xfrm>
        </p:grpSpPr>
        <p:sp>
          <p:nvSpPr>
            <p:cNvPr name="Freeform 17" id="17" descr="image.png"/>
            <p:cNvSpPr/>
            <p:nvPr/>
          </p:nvSpPr>
          <p:spPr>
            <a:xfrm flipH="false" flipV="false" rot="0">
              <a:off x="0" y="0"/>
              <a:ext cx="7175246" cy="3176524"/>
            </a:xfrm>
            <a:custGeom>
              <a:avLst/>
              <a:gdLst/>
              <a:ahLst/>
              <a:cxnLst/>
              <a:rect r="r" b="b" t="t" l="l"/>
              <a:pathLst>
                <a:path h="3176524" w="7175246">
                  <a:moveTo>
                    <a:pt x="0" y="0"/>
                  </a:moveTo>
                  <a:lnTo>
                    <a:pt x="7175246" y="0"/>
                  </a:lnTo>
                  <a:lnTo>
                    <a:pt x="7175246" y="3176524"/>
                  </a:lnTo>
                  <a:lnTo>
                    <a:pt x="0" y="31765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329" r="0" b="-330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785812" y="1166812"/>
            <a:ext cx="17502188" cy="601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0"/>
              </a:lnSpc>
            </a:pPr>
            <a:r>
              <a:rPr lang="en-US" sz="3825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What the Internship Set Out to Achieve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85838" y="750094"/>
            <a:ext cx="207169" cy="185738"/>
            <a:chOff x="0" y="0"/>
            <a:chExt cx="276225" cy="247650"/>
          </a:xfrm>
        </p:grpSpPr>
        <p:sp>
          <p:nvSpPr>
            <p:cNvPr name="Freeform 20" id="20" descr="image.png"/>
            <p:cNvSpPr/>
            <p:nvPr/>
          </p:nvSpPr>
          <p:spPr>
            <a:xfrm flipH="false" flipV="false" rot="0">
              <a:off x="0" y="0"/>
              <a:ext cx="276225" cy="247650"/>
            </a:xfrm>
            <a:custGeom>
              <a:avLst/>
              <a:gdLst/>
              <a:ahLst/>
              <a:cxnLst/>
              <a:rect r="r" b="b" t="t" l="l"/>
              <a:pathLst>
                <a:path h="247650" w="276225">
                  <a:moveTo>
                    <a:pt x="0" y="0"/>
                  </a:moveTo>
                  <a:lnTo>
                    <a:pt x="276225" y="0"/>
                  </a:lnTo>
                  <a:lnTo>
                    <a:pt x="276225" y="247650"/>
                  </a:lnTo>
                  <a:lnTo>
                    <a:pt x="0" y="247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2051" r="0" b="-2051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085850" y="3659610"/>
            <a:ext cx="4781398" cy="314325"/>
            <a:chOff x="0" y="0"/>
            <a:chExt cx="6375197" cy="419100"/>
          </a:xfrm>
        </p:grpSpPr>
        <p:sp>
          <p:nvSpPr>
            <p:cNvPr name="Freeform 22" id="22" descr="image.png"/>
            <p:cNvSpPr/>
            <p:nvPr/>
          </p:nvSpPr>
          <p:spPr>
            <a:xfrm flipH="false" flipV="false" rot="0">
              <a:off x="0" y="0"/>
              <a:ext cx="6375146" cy="419100"/>
            </a:xfrm>
            <a:custGeom>
              <a:avLst/>
              <a:gdLst/>
              <a:ahLst/>
              <a:cxnLst/>
              <a:rect r="r" b="b" t="t" l="l"/>
              <a:pathLst>
                <a:path h="419100" w="6375146">
                  <a:moveTo>
                    <a:pt x="0" y="0"/>
                  </a:moveTo>
                  <a:lnTo>
                    <a:pt x="6375146" y="0"/>
                  </a:lnTo>
                  <a:lnTo>
                    <a:pt x="6375146" y="419100"/>
                  </a:lnTo>
                  <a:lnTo>
                    <a:pt x="0" y="419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1909" r="0" b="-1909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085850" y="4135860"/>
            <a:ext cx="5020466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AI &amp; ML Fundamentals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85850" y="4516860"/>
            <a:ext cx="4781398" cy="925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7"/>
              </a:lnSpc>
            </a:pPr>
            <a:r>
              <a:rPr lang="en-US" sz="1518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Build a foundational understanding of Artificial Intelligence, Machine Learning, supervised learning, and classification.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6753073" y="3659610"/>
            <a:ext cx="4781626" cy="314325"/>
            <a:chOff x="0" y="0"/>
            <a:chExt cx="6375502" cy="419100"/>
          </a:xfrm>
        </p:grpSpPr>
        <p:sp>
          <p:nvSpPr>
            <p:cNvPr name="Freeform 26" id="26" descr="image.png"/>
            <p:cNvSpPr/>
            <p:nvPr/>
          </p:nvSpPr>
          <p:spPr>
            <a:xfrm flipH="false" flipV="false" rot="0">
              <a:off x="0" y="0"/>
              <a:ext cx="6375527" cy="419100"/>
            </a:xfrm>
            <a:custGeom>
              <a:avLst/>
              <a:gdLst/>
              <a:ahLst/>
              <a:cxnLst/>
              <a:rect r="r" b="b" t="t" l="l"/>
              <a:pathLst>
                <a:path h="419100" w="6375527">
                  <a:moveTo>
                    <a:pt x="0" y="0"/>
                  </a:moveTo>
                  <a:lnTo>
                    <a:pt x="6375527" y="0"/>
                  </a:lnTo>
                  <a:lnTo>
                    <a:pt x="6375527" y="419100"/>
                  </a:lnTo>
                  <a:lnTo>
                    <a:pt x="0" y="419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1757" r="0" b="-1757"/>
              </a:stretch>
            </a:blip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6753073" y="4135860"/>
            <a:ext cx="5020704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Data Preparation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753073" y="4516860"/>
            <a:ext cx="4781626" cy="635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7"/>
              </a:lnSpc>
            </a:pPr>
            <a:r>
              <a:rPr lang="en-US" sz="1518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Learn to acquire, load, inspect, clean, and prepare a large-scale dataset for machine learning.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2420524" y="3659610"/>
            <a:ext cx="4781398" cy="314325"/>
            <a:chOff x="0" y="0"/>
            <a:chExt cx="6375197" cy="419100"/>
          </a:xfrm>
        </p:grpSpPr>
        <p:sp>
          <p:nvSpPr>
            <p:cNvPr name="Freeform 30" id="30" descr="image.png"/>
            <p:cNvSpPr/>
            <p:nvPr/>
          </p:nvSpPr>
          <p:spPr>
            <a:xfrm flipH="false" flipV="false" rot="0">
              <a:off x="0" y="0"/>
              <a:ext cx="6375146" cy="419100"/>
            </a:xfrm>
            <a:custGeom>
              <a:avLst/>
              <a:gdLst/>
              <a:ahLst/>
              <a:cxnLst/>
              <a:rect r="r" b="b" t="t" l="l"/>
              <a:pathLst>
                <a:path h="419100" w="6375146">
                  <a:moveTo>
                    <a:pt x="0" y="0"/>
                  </a:moveTo>
                  <a:lnTo>
                    <a:pt x="6375146" y="0"/>
                  </a:lnTo>
                  <a:lnTo>
                    <a:pt x="6375146" y="419100"/>
                  </a:lnTo>
                  <a:lnTo>
                    <a:pt x="0" y="419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-1909" r="0" b="-1909"/>
              </a:stretch>
            </a:blip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12420524" y="4135860"/>
            <a:ext cx="5020466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Natural Language Processing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420524" y="4516860"/>
            <a:ext cx="4781398" cy="925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7"/>
              </a:lnSpc>
            </a:pPr>
            <a:r>
              <a:rPr lang="en-US" sz="1518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Apply text preprocessing techniques including regular-expression cleaning, lowercase conversion, stop-word removal, and stemming.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085850" y="6327800"/>
            <a:ext cx="4781398" cy="314325"/>
            <a:chOff x="0" y="0"/>
            <a:chExt cx="6375197" cy="419100"/>
          </a:xfrm>
        </p:grpSpPr>
        <p:sp>
          <p:nvSpPr>
            <p:cNvPr name="Freeform 34" id="34" descr="image.png"/>
            <p:cNvSpPr/>
            <p:nvPr/>
          </p:nvSpPr>
          <p:spPr>
            <a:xfrm flipH="false" flipV="false" rot="0">
              <a:off x="0" y="0"/>
              <a:ext cx="6375146" cy="419100"/>
            </a:xfrm>
            <a:custGeom>
              <a:avLst/>
              <a:gdLst/>
              <a:ahLst/>
              <a:cxnLst/>
              <a:rect r="r" b="b" t="t" l="l"/>
              <a:pathLst>
                <a:path h="419100" w="6375146">
                  <a:moveTo>
                    <a:pt x="0" y="0"/>
                  </a:moveTo>
                  <a:lnTo>
                    <a:pt x="6375146" y="0"/>
                  </a:lnTo>
                  <a:lnTo>
                    <a:pt x="6375146" y="419100"/>
                  </a:lnTo>
                  <a:lnTo>
                    <a:pt x="0" y="419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-1909" r="0" b="-1909"/>
              </a:stretch>
            </a:blip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1085850" y="6804050"/>
            <a:ext cx="5020466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Feature Extraction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85850" y="7185050"/>
            <a:ext cx="4781398" cy="635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7"/>
              </a:lnSpc>
            </a:pPr>
            <a:r>
              <a:rPr lang="en-US" sz="1518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Convert processed tweet text into numerical representations using TF-IDF vectorization.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6753073" y="6327800"/>
            <a:ext cx="4781626" cy="314325"/>
            <a:chOff x="0" y="0"/>
            <a:chExt cx="6375502" cy="419100"/>
          </a:xfrm>
        </p:grpSpPr>
        <p:sp>
          <p:nvSpPr>
            <p:cNvPr name="Freeform 38" id="38" descr="image.png"/>
            <p:cNvSpPr/>
            <p:nvPr/>
          </p:nvSpPr>
          <p:spPr>
            <a:xfrm flipH="false" flipV="false" rot="0">
              <a:off x="0" y="0"/>
              <a:ext cx="6375527" cy="419100"/>
            </a:xfrm>
            <a:custGeom>
              <a:avLst/>
              <a:gdLst/>
              <a:ahLst/>
              <a:cxnLst/>
              <a:rect r="r" b="b" t="t" l="l"/>
              <a:pathLst>
                <a:path h="419100" w="6375527">
                  <a:moveTo>
                    <a:pt x="0" y="0"/>
                  </a:moveTo>
                  <a:lnTo>
                    <a:pt x="6375527" y="0"/>
                  </a:lnTo>
                  <a:lnTo>
                    <a:pt x="6375527" y="419100"/>
                  </a:lnTo>
                  <a:lnTo>
                    <a:pt x="0" y="419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-1757" r="0" b="-1757"/>
              </a:stretch>
            </a:blip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6753073" y="6804050"/>
            <a:ext cx="5020704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Model Development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6753073" y="7185050"/>
            <a:ext cx="4781626" cy="925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7"/>
              </a:lnSpc>
            </a:pPr>
            <a:r>
              <a:rPr lang="en-US" sz="1518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Train a Logistic Regression classifier for binary sentiment classification using an 80:20 stratified train-test split.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12420524" y="6327800"/>
            <a:ext cx="4781398" cy="314325"/>
            <a:chOff x="0" y="0"/>
            <a:chExt cx="6375197" cy="419100"/>
          </a:xfrm>
        </p:grpSpPr>
        <p:sp>
          <p:nvSpPr>
            <p:cNvPr name="Freeform 42" id="42" descr="image.png"/>
            <p:cNvSpPr/>
            <p:nvPr/>
          </p:nvSpPr>
          <p:spPr>
            <a:xfrm flipH="false" flipV="false" rot="0">
              <a:off x="0" y="0"/>
              <a:ext cx="6375146" cy="419100"/>
            </a:xfrm>
            <a:custGeom>
              <a:avLst/>
              <a:gdLst/>
              <a:ahLst/>
              <a:cxnLst/>
              <a:rect r="r" b="b" t="t" l="l"/>
              <a:pathLst>
                <a:path h="419100" w="6375146">
                  <a:moveTo>
                    <a:pt x="0" y="0"/>
                  </a:moveTo>
                  <a:lnTo>
                    <a:pt x="6375146" y="0"/>
                  </a:lnTo>
                  <a:lnTo>
                    <a:pt x="6375146" y="419100"/>
                  </a:lnTo>
                  <a:lnTo>
                    <a:pt x="0" y="419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-1909" r="0" b="-1909"/>
              </a:stretch>
            </a:blipFill>
          </p:spPr>
        </p:sp>
      </p:grpSp>
      <p:sp>
        <p:nvSpPr>
          <p:cNvPr name="TextBox 43" id="43"/>
          <p:cNvSpPr txBox="true"/>
          <p:nvPr/>
        </p:nvSpPr>
        <p:spPr>
          <a:xfrm rot="0">
            <a:off x="12420524" y="6804050"/>
            <a:ext cx="5020466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Evaluation &amp; Prediction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2420524" y="7185050"/>
            <a:ext cx="4781398" cy="925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7"/>
              </a:lnSpc>
            </a:pPr>
            <a:r>
              <a:rPr lang="en-US" sz="1518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Evaluate model performance using accuracy, save the trained model, reload it, and perform sentiment predictions.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716125" y="-1428750"/>
            <a:ext cx="5000625" cy="5000625"/>
            <a:chOff x="0" y="0"/>
            <a:chExt cx="6667500" cy="66675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6667500" cy="6667500"/>
            </a:xfrm>
            <a:custGeom>
              <a:avLst/>
              <a:gdLst/>
              <a:ahLst/>
              <a:cxnLst/>
              <a:rect r="r" b="b" t="t" l="l"/>
              <a:pathLst>
                <a:path h="6667500" w="6667500">
                  <a:moveTo>
                    <a:pt x="0" y="0"/>
                  </a:moveTo>
                  <a:lnTo>
                    <a:pt x="6667500" y="0"/>
                  </a:lnTo>
                  <a:lnTo>
                    <a:pt x="6667500" y="6667500"/>
                  </a:lnTo>
                  <a:lnTo>
                    <a:pt x="0" y="6667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785812" y="501647"/>
            <a:ext cx="4707731" cy="541341"/>
            <a:chOff x="0" y="0"/>
            <a:chExt cx="4638675" cy="53340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4638675" cy="533400"/>
            </a:xfrm>
            <a:custGeom>
              <a:avLst/>
              <a:gdLst/>
              <a:ahLst/>
              <a:cxnLst/>
              <a:rect r="r" b="b" t="t" l="l"/>
              <a:pathLst>
                <a:path h="533400" w="4638675">
                  <a:moveTo>
                    <a:pt x="0" y="0"/>
                  </a:moveTo>
                  <a:lnTo>
                    <a:pt x="4638675" y="0"/>
                  </a:lnTo>
                  <a:lnTo>
                    <a:pt x="4638675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166" r="0" b="-316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785812" y="3406673"/>
            <a:ext cx="4007644" cy="1409995"/>
            <a:chOff x="0" y="0"/>
            <a:chExt cx="5343525" cy="1879994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5343525" cy="1879981"/>
            </a:xfrm>
            <a:custGeom>
              <a:avLst/>
              <a:gdLst/>
              <a:ahLst/>
              <a:cxnLst/>
              <a:rect r="r" b="b" t="t" l="l"/>
              <a:pathLst>
                <a:path h="1879981" w="5343525">
                  <a:moveTo>
                    <a:pt x="0" y="0"/>
                  </a:moveTo>
                  <a:lnTo>
                    <a:pt x="5343525" y="0"/>
                  </a:lnTo>
                  <a:lnTo>
                    <a:pt x="5343525" y="1879981"/>
                  </a:lnTo>
                  <a:lnTo>
                    <a:pt x="0" y="18799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574" r="0" b="-575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022056" y="3406673"/>
            <a:ext cx="4007644" cy="1409995"/>
            <a:chOff x="0" y="0"/>
            <a:chExt cx="5343525" cy="1879994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5343525" cy="1879981"/>
            </a:xfrm>
            <a:custGeom>
              <a:avLst/>
              <a:gdLst/>
              <a:ahLst/>
              <a:cxnLst/>
              <a:rect r="r" b="b" t="t" l="l"/>
              <a:pathLst>
                <a:path h="1879981" w="5343525">
                  <a:moveTo>
                    <a:pt x="0" y="0"/>
                  </a:moveTo>
                  <a:lnTo>
                    <a:pt x="5343525" y="0"/>
                  </a:lnTo>
                  <a:lnTo>
                    <a:pt x="5343525" y="1879981"/>
                  </a:lnTo>
                  <a:lnTo>
                    <a:pt x="0" y="18799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574" r="0" b="-57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258300" y="3406673"/>
            <a:ext cx="4007644" cy="1409995"/>
            <a:chOff x="0" y="0"/>
            <a:chExt cx="5343525" cy="1879994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5343525" cy="1879981"/>
            </a:xfrm>
            <a:custGeom>
              <a:avLst/>
              <a:gdLst/>
              <a:ahLst/>
              <a:cxnLst/>
              <a:rect r="r" b="b" t="t" l="l"/>
              <a:pathLst>
                <a:path h="1879981" w="5343525">
                  <a:moveTo>
                    <a:pt x="0" y="0"/>
                  </a:moveTo>
                  <a:lnTo>
                    <a:pt x="5343525" y="0"/>
                  </a:lnTo>
                  <a:lnTo>
                    <a:pt x="5343525" y="1879981"/>
                  </a:lnTo>
                  <a:lnTo>
                    <a:pt x="0" y="18799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574" r="0" b="-575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3494544" y="3406673"/>
            <a:ext cx="4007644" cy="1409995"/>
            <a:chOff x="0" y="0"/>
            <a:chExt cx="5343525" cy="1879994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5343525" cy="1879981"/>
            </a:xfrm>
            <a:custGeom>
              <a:avLst/>
              <a:gdLst/>
              <a:ahLst/>
              <a:cxnLst/>
              <a:rect r="r" b="b" t="t" l="l"/>
              <a:pathLst>
                <a:path h="1879981" w="5343525">
                  <a:moveTo>
                    <a:pt x="0" y="0"/>
                  </a:moveTo>
                  <a:lnTo>
                    <a:pt x="5343525" y="0"/>
                  </a:lnTo>
                  <a:lnTo>
                    <a:pt x="5343525" y="1879981"/>
                  </a:lnTo>
                  <a:lnTo>
                    <a:pt x="0" y="18799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574" r="0" b="-575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785812" y="5045269"/>
            <a:ext cx="4007644" cy="1679229"/>
            <a:chOff x="0" y="0"/>
            <a:chExt cx="5343525" cy="2238972"/>
          </a:xfrm>
        </p:grpSpPr>
        <p:sp>
          <p:nvSpPr>
            <p:cNvPr name="Freeform 15" id="15" descr="image.png"/>
            <p:cNvSpPr/>
            <p:nvPr/>
          </p:nvSpPr>
          <p:spPr>
            <a:xfrm flipH="false" flipV="false" rot="0">
              <a:off x="0" y="0"/>
              <a:ext cx="5343525" cy="2239010"/>
            </a:xfrm>
            <a:custGeom>
              <a:avLst/>
              <a:gdLst/>
              <a:ahLst/>
              <a:cxnLst/>
              <a:rect r="r" b="b" t="t" l="l"/>
              <a:pathLst>
                <a:path h="2239010" w="5343525">
                  <a:moveTo>
                    <a:pt x="0" y="0"/>
                  </a:moveTo>
                  <a:lnTo>
                    <a:pt x="5343525" y="0"/>
                  </a:lnTo>
                  <a:lnTo>
                    <a:pt x="5343525" y="2239010"/>
                  </a:lnTo>
                  <a:lnTo>
                    <a:pt x="0" y="22390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110" r="0" b="-108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5022056" y="5045269"/>
            <a:ext cx="4007644" cy="1679229"/>
            <a:chOff x="0" y="0"/>
            <a:chExt cx="5343525" cy="2238972"/>
          </a:xfrm>
        </p:grpSpPr>
        <p:sp>
          <p:nvSpPr>
            <p:cNvPr name="Freeform 17" id="17" descr="image.png"/>
            <p:cNvSpPr/>
            <p:nvPr/>
          </p:nvSpPr>
          <p:spPr>
            <a:xfrm flipH="false" flipV="false" rot="0">
              <a:off x="0" y="0"/>
              <a:ext cx="5343525" cy="2239010"/>
            </a:xfrm>
            <a:custGeom>
              <a:avLst/>
              <a:gdLst/>
              <a:ahLst/>
              <a:cxnLst/>
              <a:rect r="r" b="b" t="t" l="l"/>
              <a:pathLst>
                <a:path h="2239010" w="5343525">
                  <a:moveTo>
                    <a:pt x="0" y="0"/>
                  </a:moveTo>
                  <a:lnTo>
                    <a:pt x="5343525" y="0"/>
                  </a:lnTo>
                  <a:lnTo>
                    <a:pt x="5343525" y="2239010"/>
                  </a:lnTo>
                  <a:lnTo>
                    <a:pt x="0" y="22390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110" r="0" b="-108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258300" y="5045269"/>
            <a:ext cx="4007644" cy="1679229"/>
            <a:chOff x="0" y="0"/>
            <a:chExt cx="5343525" cy="2238972"/>
          </a:xfrm>
        </p:grpSpPr>
        <p:sp>
          <p:nvSpPr>
            <p:cNvPr name="Freeform 19" id="19" descr="image.png"/>
            <p:cNvSpPr/>
            <p:nvPr/>
          </p:nvSpPr>
          <p:spPr>
            <a:xfrm flipH="false" flipV="false" rot="0">
              <a:off x="0" y="0"/>
              <a:ext cx="5343525" cy="2239010"/>
            </a:xfrm>
            <a:custGeom>
              <a:avLst/>
              <a:gdLst/>
              <a:ahLst/>
              <a:cxnLst/>
              <a:rect r="r" b="b" t="t" l="l"/>
              <a:pathLst>
                <a:path h="2239010" w="5343525">
                  <a:moveTo>
                    <a:pt x="0" y="0"/>
                  </a:moveTo>
                  <a:lnTo>
                    <a:pt x="5343525" y="0"/>
                  </a:lnTo>
                  <a:lnTo>
                    <a:pt x="5343525" y="2239010"/>
                  </a:lnTo>
                  <a:lnTo>
                    <a:pt x="0" y="22390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110" r="0" b="-108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3494544" y="5045269"/>
            <a:ext cx="4007644" cy="1679229"/>
            <a:chOff x="0" y="0"/>
            <a:chExt cx="5343525" cy="2238972"/>
          </a:xfrm>
        </p:grpSpPr>
        <p:sp>
          <p:nvSpPr>
            <p:cNvPr name="Freeform 21" id="21" descr="image.png"/>
            <p:cNvSpPr/>
            <p:nvPr/>
          </p:nvSpPr>
          <p:spPr>
            <a:xfrm flipH="false" flipV="false" rot="0">
              <a:off x="0" y="0"/>
              <a:ext cx="5343525" cy="2239010"/>
            </a:xfrm>
            <a:custGeom>
              <a:avLst/>
              <a:gdLst/>
              <a:ahLst/>
              <a:cxnLst/>
              <a:rect r="r" b="b" t="t" l="l"/>
              <a:pathLst>
                <a:path h="2239010" w="5343525">
                  <a:moveTo>
                    <a:pt x="0" y="0"/>
                  </a:moveTo>
                  <a:lnTo>
                    <a:pt x="5343525" y="0"/>
                  </a:lnTo>
                  <a:lnTo>
                    <a:pt x="5343525" y="2239010"/>
                  </a:lnTo>
                  <a:lnTo>
                    <a:pt x="0" y="22390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110" r="0" b="-108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785812" y="6953098"/>
            <a:ext cx="4007644" cy="1409995"/>
            <a:chOff x="0" y="0"/>
            <a:chExt cx="5343525" cy="1879994"/>
          </a:xfrm>
        </p:grpSpPr>
        <p:sp>
          <p:nvSpPr>
            <p:cNvPr name="Freeform 23" id="23" descr="image.png"/>
            <p:cNvSpPr/>
            <p:nvPr/>
          </p:nvSpPr>
          <p:spPr>
            <a:xfrm flipH="false" flipV="false" rot="0">
              <a:off x="0" y="0"/>
              <a:ext cx="5343525" cy="1879981"/>
            </a:xfrm>
            <a:custGeom>
              <a:avLst/>
              <a:gdLst/>
              <a:ahLst/>
              <a:cxnLst/>
              <a:rect r="r" b="b" t="t" l="l"/>
              <a:pathLst>
                <a:path h="1879981" w="5343525">
                  <a:moveTo>
                    <a:pt x="0" y="0"/>
                  </a:moveTo>
                  <a:lnTo>
                    <a:pt x="5343525" y="0"/>
                  </a:lnTo>
                  <a:lnTo>
                    <a:pt x="5343525" y="1879981"/>
                  </a:lnTo>
                  <a:lnTo>
                    <a:pt x="0" y="18799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574" r="0" b="-575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5022056" y="6953098"/>
            <a:ext cx="4007644" cy="1409995"/>
            <a:chOff x="0" y="0"/>
            <a:chExt cx="5343525" cy="1879994"/>
          </a:xfrm>
        </p:grpSpPr>
        <p:sp>
          <p:nvSpPr>
            <p:cNvPr name="Freeform 25" id="25" descr="image.png"/>
            <p:cNvSpPr/>
            <p:nvPr/>
          </p:nvSpPr>
          <p:spPr>
            <a:xfrm flipH="false" flipV="false" rot="0">
              <a:off x="0" y="0"/>
              <a:ext cx="5343525" cy="1879981"/>
            </a:xfrm>
            <a:custGeom>
              <a:avLst/>
              <a:gdLst/>
              <a:ahLst/>
              <a:cxnLst/>
              <a:rect r="r" b="b" t="t" l="l"/>
              <a:pathLst>
                <a:path h="1879981" w="5343525">
                  <a:moveTo>
                    <a:pt x="0" y="0"/>
                  </a:moveTo>
                  <a:lnTo>
                    <a:pt x="5343525" y="0"/>
                  </a:lnTo>
                  <a:lnTo>
                    <a:pt x="5343525" y="1879981"/>
                  </a:lnTo>
                  <a:lnTo>
                    <a:pt x="0" y="18799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574" r="0" b="-575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258300" y="6953098"/>
            <a:ext cx="4007644" cy="1409995"/>
            <a:chOff x="0" y="0"/>
            <a:chExt cx="5343525" cy="1879994"/>
          </a:xfrm>
        </p:grpSpPr>
        <p:sp>
          <p:nvSpPr>
            <p:cNvPr name="Freeform 27" id="27" descr="image.png"/>
            <p:cNvSpPr/>
            <p:nvPr/>
          </p:nvSpPr>
          <p:spPr>
            <a:xfrm flipH="false" flipV="false" rot="0">
              <a:off x="0" y="0"/>
              <a:ext cx="5343525" cy="1879981"/>
            </a:xfrm>
            <a:custGeom>
              <a:avLst/>
              <a:gdLst/>
              <a:ahLst/>
              <a:cxnLst/>
              <a:rect r="r" b="b" t="t" l="l"/>
              <a:pathLst>
                <a:path h="1879981" w="5343525">
                  <a:moveTo>
                    <a:pt x="0" y="0"/>
                  </a:moveTo>
                  <a:lnTo>
                    <a:pt x="5343525" y="0"/>
                  </a:lnTo>
                  <a:lnTo>
                    <a:pt x="5343525" y="1879981"/>
                  </a:lnTo>
                  <a:lnTo>
                    <a:pt x="0" y="18799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-574" r="0" b="-575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3494544" y="6953098"/>
            <a:ext cx="4007644" cy="1409995"/>
            <a:chOff x="0" y="0"/>
            <a:chExt cx="5343525" cy="1879994"/>
          </a:xfrm>
        </p:grpSpPr>
        <p:sp>
          <p:nvSpPr>
            <p:cNvPr name="Freeform 29" id="29" descr="image.png"/>
            <p:cNvSpPr/>
            <p:nvPr/>
          </p:nvSpPr>
          <p:spPr>
            <a:xfrm flipH="false" flipV="false" rot="0">
              <a:off x="0" y="0"/>
              <a:ext cx="5343525" cy="1879981"/>
            </a:xfrm>
            <a:custGeom>
              <a:avLst/>
              <a:gdLst/>
              <a:ahLst/>
              <a:cxnLst/>
              <a:rect r="r" b="b" t="t" l="l"/>
              <a:pathLst>
                <a:path h="1879981" w="5343525">
                  <a:moveTo>
                    <a:pt x="0" y="0"/>
                  </a:moveTo>
                  <a:lnTo>
                    <a:pt x="5343525" y="0"/>
                  </a:lnTo>
                  <a:lnTo>
                    <a:pt x="5343525" y="1879981"/>
                  </a:lnTo>
                  <a:lnTo>
                    <a:pt x="0" y="18799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-574" r="0" b="-575"/>
              </a:stretch>
            </a:blip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785812" y="1166812"/>
            <a:ext cx="17502188" cy="601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0"/>
              </a:lnSpc>
            </a:pPr>
            <a:r>
              <a:rPr lang="en-US" sz="3825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The Toolkit Behind the Project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85838" y="750094"/>
            <a:ext cx="207169" cy="185738"/>
            <a:chOff x="0" y="0"/>
            <a:chExt cx="276225" cy="247650"/>
          </a:xfrm>
        </p:grpSpPr>
        <p:sp>
          <p:nvSpPr>
            <p:cNvPr name="Freeform 32" id="32" descr="image.png"/>
            <p:cNvSpPr/>
            <p:nvPr/>
          </p:nvSpPr>
          <p:spPr>
            <a:xfrm flipH="false" flipV="false" rot="0">
              <a:off x="0" y="0"/>
              <a:ext cx="276225" cy="247650"/>
            </a:xfrm>
            <a:custGeom>
              <a:avLst/>
              <a:gdLst/>
              <a:ahLst/>
              <a:cxnLst/>
              <a:rect r="r" b="b" t="t" l="l"/>
              <a:pathLst>
                <a:path h="247650" w="276225">
                  <a:moveTo>
                    <a:pt x="0" y="0"/>
                  </a:moveTo>
                  <a:lnTo>
                    <a:pt x="276225" y="0"/>
                  </a:lnTo>
                  <a:lnTo>
                    <a:pt x="276225" y="247650"/>
                  </a:lnTo>
                  <a:lnTo>
                    <a:pt x="0" y="247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-2051" r="0" b="-2051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343025" y="3649561"/>
            <a:ext cx="3207544" cy="300038"/>
            <a:chOff x="0" y="0"/>
            <a:chExt cx="4276725" cy="40005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276724" cy="400050"/>
            </a:xfrm>
            <a:custGeom>
              <a:avLst/>
              <a:gdLst/>
              <a:ahLst/>
              <a:cxnLst/>
              <a:rect r="r" b="b" t="t" l="l"/>
              <a:pathLst>
                <a:path h="400050" w="4276724">
                  <a:moveTo>
                    <a:pt x="0" y="0"/>
                  </a:moveTo>
                  <a:lnTo>
                    <a:pt x="4276724" y="0"/>
                  </a:lnTo>
                  <a:lnTo>
                    <a:pt x="4276724" y="400050"/>
                  </a:lnTo>
                  <a:lnTo>
                    <a:pt x="0" y="400050"/>
                  </a:lnTo>
                  <a:close/>
                </a:path>
              </a:pathLst>
            </a:custGeom>
            <a:blipFill>
              <a:blip r:embed="rId16">
                <a:alphaModFix amt="0"/>
              </a:blip>
              <a:stretch>
                <a:fillRect l="0" t="-158304" r="0" b="-158304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9050"/>
              <a:ext cx="4276725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2563EB"/>
                  </a:solidFill>
                  <a:latin typeface="Arimo Bold"/>
                  <a:ea typeface="Arimo Bold"/>
                  <a:cs typeface="Arimo Bold"/>
                  <a:sym typeface="Arimo Bold"/>
                </a:rPr>
                <a:t> Python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1028700" y="3987698"/>
            <a:ext cx="3521869" cy="586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19"/>
              </a:lnSpc>
            </a:pPr>
            <a:r>
              <a:rPr lang="en-US" sz="1462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Primary programming language for data processing and machine learning.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5636419" y="3649561"/>
            <a:ext cx="3150394" cy="300038"/>
            <a:chOff x="0" y="0"/>
            <a:chExt cx="4200525" cy="40005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200524" cy="400050"/>
            </a:xfrm>
            <a:custGeom>
              <a:avLst/>
              <a:gdLst/>
              <a:ahLst/>
              <a:cxnLst/>
              <a:rect r="r" b="b" t="t" l="l"/>
              <a:pathLst>
                <a:path h="400050" w="4200524">
                  <a:moveTo>
                    <a:pt x="0" y="0"/>
                  </a:moveTo>
                  <a:lnTo>
                    <a:pt x="4200524" y="0"/>
                  </a:lnTo>
                  <a:lnTo>
                    <a:pt x="4200524" y="400050"/>
                  </a:lnTo>
                  <a:lnTo>
                    <a:pt x="0" y="400050"/>
                  </a:lnTo>
                  <a:close/>
                </a:path>
              </a:pathLst>
            </a:custGeom>
            <a:blipFill>
              <a:blip r:embed="rId16">
                <a:alphaModFix amt="0"/>
              </a:blip>
              <a:stretch>
                <a:fillRect l="0" t="-154592" r="0" b="-154592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19050"/>
              <a:ext cx="4200525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2563EB"/>
                  </a:solidFill>
                  <a:latin typeface="Arimo Bold"/>
                  <a:ea typeface="Arimo Bold"/>
                  <a:cs typeface="Arimo Bold"/>
                  <a:sym typeface="Arimo Bold"/>
                </a:rPr>
                <a:t>Google Colab</a:t>
              </a: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5264944" y="3987698"/>
            <a:ext cx="3521869" cy="586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19"/>
              </a:lnSpc>
            </a:pPr>
            <a:r>
              <a:rPr lang="en-US" sz="1462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Cloud notebook environment used to develop and execute the project.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9844088" y="3649561"/>
            <a:ext cx="3178969" cy="300038"/>
            <a:chOff x="0" y="0"/>
            <a:chExt cx="4238625" cy="40005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238624" cy="400050"/>
            </a:xfrm>
            <a:custGeom>
              <a:avLst/>
              <a:gdLst/>
              <a:ahLst/>
              <a:cxnLst/>
              <a:rect r="r" b="b" t="t" l="l"/>
              <a:pathLst>
                <a:path h="400050" w="4238624">
                  <a:moveTo>
                    <a:pt x="0" y="0"/>
                  </a:moveTo>
                  <a:lnTo>
                    <a:pt x="4238624" y="0"/>
                  </a:lnTo>
                  <a:lnTo>
                    <a:pt x="4238624" y="400050"/>
                  </a:lnTo>
                  <a:lnTo>
                    <a:pt x="0" y="400050"/>
                  </a:lnTo>
                  <a:close/>
                </a:path>
              </a:pathLst>
            </a:custGeom>
            <a:blipFill>
              <a:blip r:embed="rId16">
                <a:alphaModFix amt="0"/>
              </a:blip>
              <a:stretch>
                <a:fillRect l="0" t="-156448" r="0" b="-156448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9050"/>
              <a:ext cx="4238625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2563EB"/>
                  </a:solidFill>
                  <a:latin typeface="Arimo Bold"/>
                  <a:ea typeface="Arimo Bold"/>
                  <a:cs typeface="Arimo Bold"/>
                  <a:sym typeface="Arimo Bold"/>
                </a:rPr>
                <a:t>Kaggle</a:t>
              </a: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9501188" y="3987698"/>
            <a:ext cx="3521869" cy="586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19"/>
              </a:lnSpc>
            </a:pPr>
            <a:r>
              <a:rPr lang="en-US" sz="1462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Source platform used to obtain the Sentiment140 dataset.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14080331" y="3649561"/>
            <a:ext cx="3178969" cy="300038"/>
            <a:chOff x="0" y="0"/>
            <a:chExt cx="4238625" cy="40005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238624" cy="400050"/>
            </a:xfrm>
            <a:custGeom>
              <a:avLst/>
              <a:gdLst/>
              <a:ahLst/>
              <a:cxnLst/>
              <a:rect r="r" b="b" t="t" l="l"/>
              <a:pathLst>
                <a:path h="400050" w="4238624">
                  <a:moveTo>
                    <a:pt x="0" y="0"/>
                  </a:moveTo>
                  <a:lnTo>
                    <a:pt x="4238624" y="0"/>
                  </a:lnTo>
                  <a:lnTo>
                    <a:pt x="4238624" y="400050"/>
                  </a:lnTo>
                  <a:lnTo>
                    <a:pt x="0" y="400050"/>
                  </a:lnTo>
                  <a:close/>
                </a:path>
              </a:pathLst>
            </a:custGeom>
            <a:blipFill>
              <a:blip r:embed="rId16">
                <a:alphaModFix amt="0"/>
              </a:blip>
              <a:stretch>
                <a:fillRect l="0" t="-156448" r="0" b="-156448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19050"/>
              <a:ext cx="4238625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2563EB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Pandas</a:t>
              </a:r>
            </a:p>
          </p:txBody>
        </p:sp>
      </p:grpSp>
      <p:sp>
        <p:nvSpPr>
          <p:cNvPr name="TextBox 48" id="48"/>
          <p:cNvSpPr txBox="true"/>
          <p:nvPr/>
        </p:nvSpPr>
        <p:spPr>
          <a:xfrm rot="0">
            <a:off x="13737431" y="3987698"/>
            <a:ext cx="3521869" cy="586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19"/>
              </a:lnSpc>
            </a:pPr>
            <a:r>
              <a:rPr lang="en-US" sz="1462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CSV loading, DataFrame creation, inspection, and manipulation.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1314450" y="5288156"/>
            <a:ext cx="3236119" cy="300038"/>
            <a:chOff x="0" y="0"/>
            <a:chExt cx="4314825" cy="40005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4314824" cy="400050"/>
            </a:xfrm>
            <a:custGeom>
              <a:avLst/>
              <a:gdLst/>
              <a:ahLst/>
              <a:cxnLst/>
              <a:rect r="r" b="b" t="t" l="l"/>
              <a:pathLst>
                <a:path h="400050" w="4314824">
                  <a:moveTo>
                    <a:pt x="0" y="0"/>
                  </a:moveTo>
                  <a:lnTo>
                    <a:pt x="4314824" y="0"/>
                  </a:lnTo>
                  <a:lnTo>
                    <a:pt x="4314824" y="400050"/>
                  </a:lnTo>
                  <a:lnTo>
                    <a:pt x="0" y="400050"/>
                  </a:lnTo>
                  <a:close/>
                </a:path>
              </a:pathLst>
            </a:custGeom>
            <a:blipFill>
              <a:blip r:embed="rId16">
                <a:alphaModFix amt="0"/>
              </a:blip>
              <a:stretch>
                <a:fillRect l="0" t="-160160" r="0" b="-16016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19050"/>
              <a:ext cx="4314825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2563EB"/>
                  </a:solidFill>
                  <a:latin typeface="Arimo Bold"/>
                  <a:ea typeface="Arimo Bold"/>
                  <a:cs typeface="Arimo Bold"/>
                  <a:sym typeface="Arimo Bold"/>
                </a:rPr>
                <a:t>NumPy</a:t>
              </a:r>
            </a:p>
          </p:txBody>
        </p:sp>
      </p:grpSp>
      <p:sp>
        <p:nvSpPr>
          <p:cNvPr name="TextBox 52" id="52"/>
          <p:cNvSpPr txBox="true"/>
          <p:nvPr/>
        </p:nvSpPr>
        <p:spPr>
          <a:xfrm rot="0">
            <a:off x="1028700" y="5626294"/>
            <a:ext cx="3521869" cy="586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19"/>
              </a:lnSpc>
            </a:pPr>
            <a:r>
              <a:rPr lang="en-US" sz="1462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Numerical and array-oriented operations.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5664994" y="5288156"/>
            <a:ext cx="3121819" cy="300038"/>
            <a:chOff x="0" y="0"/>
            <a:chExt cx="4162425" cy="40005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162424" cy="400050"/>
            </a:xfrm>
            <a:custGeom>
              <a:avLst/>
              <a:gdLst/>
              <a:ahLst/>
              <a:cxnLst/>
              <a:rect r="r" b="b" t="t" l="l"/>
              <a:pathLst>
                <a:path h="400050" w="4162424">
                  <a:moveTo>
                    <a:pt x="0" y="0"/>
                  </a:moveTo>
                  <a:lnTo>
                    <a:pt x="4162424" y="0"/>
                  </a:lnTo>
                  <a:lnTo>
                    <a:pt x="4162424" y="400050"/>
                  </a:lnTo>
                  <a:lnTo>
                    <a:pt x="0" y="400050"/>
                  </a:lnTo>
                  <a:close/>
                </a:path>
              </a:pathLst>
            </a:custGeom>
            <a:blipFill>
              <a:blip r:embed="rId16">
                <a:alphaModFix amt="0"/>
              </a:blip>
              <a:stretch>
                <a:fillRect l="0" t="-152737" r="0" b="-152737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19050"/>
              <a:ext cx="4162425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2563EB"/>
                  </a:solidFill>
                  <a:latin typeface="Arimo Bold"/>
                  <a:ea typeface="Arimo Bold"/>
                  <a:cs typeface="Arimo Bold"/>
                  <a:sym typeface="Arimo Bold"/>
                </a:rPr>
                <a:t>NLTK</a:t>
              </a:r>
            </a:p>
          </p:txBody>
        </p:sp>
      </p:grpSp>
      <p:sp>
        <p:nvSpPr>
          <p:cNvPr name="TextBox 56" id="56"/>
          <p:cNvSpPr txBox="true"/>
          <p:nvPr/>
        </p:nvSpPr>
        <p:spPr>
          <a:xfrm rot="0">
            <a:off x="5264944" y="5626294"/>
            <a:ext cx="3521869" cy="586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19"/>
              </a:lnSpc>
            </a:pPr>
            <a:r>
              <a:rPr lang="en-US" sz="1462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Natural Language Processing utilities, stop-word processing, and stemming.</a:t>
            </a:r>
          </a:p>
        </p:txBody>
      </p:sp>
      <p:grpSp>
        <p:nvGrpSpPr>
          <p:cNvPr name="Group 57" id="57"/>
          <p:cNvGrpSpPr/>
          <p:nvPr/>
        </p:nvGrpSpPr>
        <p:grpSpPr>
          <a:xfrm rot="0">
            <a:off x="9901238" y="5288156"/>
            <a:ext cx="3121819" cy="300038"/>
            <a:chOff x="0" y="0"/>
            <a:chExt cx="4162425" cy="40005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4162424" cy="400050"/>
            </a:xfrm>
            <a:custGeom>
              <a:avLst/>
              <a:gdLst/>
              <a:ahLst/>
              <a:cxnLst/>
              <a:rect r="r" b="b" t="t" l="l"/>
              <a:pathLst>
                <a:path h="400050" w="4162424">
                  <a:moveTo>
                    <a:pt x="0" y="0"/>
                  </a:moveTo>
                  <a:lnTo>
                    <a:pt x="4162424" y="0"/>
                  </a:lnTo>
                  <a:lnTo>
                    <a:pt x="4162424" y="400050"/>
                  </a:lnTo>
                  <a:lnTo>
                    <a:pt x="0" y="400050"/>
                  </a:lnTo>
                  <a:close/>
                </a:path>
              </a:pathLst>
            </a:custGeom>
            <a:blipFill>
              <a:blip r:embed="rId16">
                <a:alphaModFix amt="0"/>
              </a:blip>
              <a:stretch>
                <a:fillRect l="0" t="-152737" r="0" b="-152737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19050"/>
              <a:ext cx="4162425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2563EB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Scikit-learn</a:t>
              </a:r>
            </a:p>
          </p:txBody>
        </p:sp>
      </p:grpSp>
      <p:sp>
        <p:nvSpPr>
          <p:cNvPr name="TextBox 60" id="60"/>
          <p:cNvSpPr txBox="true"/>
          <p:nvPr/>
        </p:nvSpPr>
        <p:spPr>
          <a:xfrm rot="0">
            <a:off x="9501188" y="5626294"/>
            <a:ext cx="3521869" cy="586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19"/>
              </a:lnSpc>
            </a:pPr>
            <a:r>
              <a:rPr lang="en-US" sz="1462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Feature extraction, train-test splitting, Logistic Regression, and evaluation.</a:t>
            </a:r>
          </a:p>
        </p:txBody>
      </p:sp>
      <p:grpSp>
        <p:nvGrpSpPr>
          <p:cNvPr name="Group 61" id="61"/>
          <p:cNvGrpSpPr/>
          <p:nvPr/>
        </p:nvGrpSpPr>
        <p:grpSpPr>
          <a:xfrm rot="0">
            <a:off x="14108906" y="5288156"/>
            <a:ext cx="3150394" cy="300038"/>
            <a:chOff x="0" y="0"/>
            <a:chExt cx="4200525" cy="40005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4200524" cy="400050"/>
            </a:xfrm>
            <a:custGeom>
              <a:avLst/>
              <a:gdLst/>
              <a:ahLst/>
              <a:cxnLst/>
              <a:rect r="r" b="b" t="t" l="l"/>
              <a:pathLst>
                <a:path h="400050" w="4200524">
                  <a:moveTo>
                    <a:pt x="0" y="0"/>
                  </a:moveTo>
                  <a:lnTo>
                    <a:pt x="4200524" y="0"/>
                  </a:lnTo>
                  <a:lnTo>
                    <a:pt x="4200524" y="400050"/>
                  </a:lnTo>
                  <a:lnTo>
                    <a:pt x="0" y="400050"/>
                  </a:lnTo>
                  <a:close/>
                </a:path>
              </a:pathLst>
            </a:custGeom>
            <a:blipFill>
              <a:blip r:embed="rId16">
                <a:alphaModFix amt="0"/>
              </a:blip>
              <a:stretch>
                <a:fillRect l="0" t="-154592" r="0" b="-154592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19050"/>
              <a:ext cx="4200525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2563EB"/>
                  </a:solidFill>
                  <a:latin typeface="Arimo Bold"/>
                  <a:ea typeface="Arimo Bold"/>
                  <a:cs typeface="Arimo Bold"/>
                  <a:sym typeface="Arimo Bold"/>
                </a:rPr>
                <a:t>TF-IDF + LogReg</a:t>
              </a:r>
            </a:p>
          </p:txBody>
        </p:sp>
      </p:grpSp>
      <p:sp>
        <p:nvSpPr>
          <p:cNvPr name="TextBox 64" id="64"/>
          <p:cNvSpPr txBox="true"/>
          <p:nvPr/>
        </p:nvSpPr>
        <p:spPr>
          <a:xfrm rot="0">
            <a:off x="13737431" y="5626294"/>
            <a:ext cx="3521869" cy="855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19"/>
              </a:lnSpc>
            </a:pPr>
            <a:r>
              <a:rPr lang="en-US" sz="1462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TF-IDF converts text into numerical features; Logistic Regression classifies sentiment.</a:t>
            </a:r>
          </a:p>
        </p:txBody>
      </p:sp>
      <p:grpSp>
        <p:nvGrpSpPr>
          <p:cNvPr name="Group 65" id="65"/>
          <p:cNvGrpSpPr/>
          <p:nvPr/>
        </p:nvGrpSpPr>
        <p:grpSpPr>
          <a:xfrm rot="0">
            <a:off x="1428750" y="7195985"/>
            <a:ext cx="3121819" cy="300038"/>
            <a:chOff x="0" y="0"/>
            <a:chExt cx="4162425" cy="40005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4162424" cy="400050"/>
            </a:xfrm>
            <a:custGeom>
              <a:avLst/>
              <a:gdLst/>
              <a:ahLst/>
              <a:cxnLst/>
              <a:rect r="r" b="b" t="t" l="l"/>
              <a:pathLst>
                <a:path h="400050" w="4162424">
                  <a:moveTo>
                    <a:pt x="0" y="0"/>
                  </a:moveTo>
                  <a:lnTo>
                    <a:pt x="4162424" y="0"/>
                  </a:lnTo>
                  <a:lnTo>
                    <a:pt x="4162424" y="400050"/>
                  </a:lnTo>
                  <a:lnTo>
                    <a:pt x="0" y="400050"/>
                  </a:lnTo>
                  <a:close/>
                </a:path>
              </a:pathLst>
            </a:custGeom>
            <a:blipFill>
              <a:blip r:embed="rId16">
                <a:alphaModFix amt="0"/>
              </a:blip>
              <a:stretch>
                <a:fillRect l="0" t="-152737" r="0" b="-152737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19050"/>
              <a:ext cx="4162425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2563EB"/>
                  </a:solidFill>
                  <a:latin typeface="Arimo Bold"/>
                  <a:ea typeface="Arimo Bold"/>
                  <a:cs typeface="Arimo Bold"/>
                  <a:sym typeface="Arimo Bold"/>
                </a:rPr>
                <a:t>RegEx</a:t>
              </a:r>
            </a:p>
          </p:txBody>
        </p:sp>
      </p:grpSp>
      <p:sp>
        <p:nvSpPr>
          <p:cNvPr name="TextBox 68" id="68"/>
          <p:cNvSpPr txBox="true"/>
          <p:nvPr/>
        </p:nvSpPr>
        <p:spPr>
          <a:xfrm rot="0">
            <a:off x="1028700" y="7534123"/>
            <a:ext cx="3521869" cy="586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19"/>
              </a:lnSpc>
            </a:pPr>
            <a:r>
              <a:rPr lang="en-US" sz="1462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Cleaning non-alphabetic characters from tweet text.</a:t>
            </a:r>
          </a:p>
        </p:txBody>
      </p:sp>
      <p:grpSp>
        <p:nvGrpSpPr>
          <p:cNvPr name="Group 69" id="69"/>
          <p:cNvGrpSpPr/>
          <p:nvPr/>
        </p:nvGrpSpPr>
        <p:grpSpPr>
          <a:xfrm rot="0">
            <a:off x="5607844" y="7195985"/>
            <a:ext cx="3178969" cy="300038"/>
            <a:chOff x="0" y="0"/>
            <a:chExt cx="4238625" cy="40005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4238624" cy="400050"/>
            </a:xfrm>
            <a:custGeom>
              <a:avLst/>
              <a:gdLst/>
              <a:ahLst/>
              <a:cxnLst/>
              <a:rect r="r" b="b" t="t" l="l"/>
              <a:pathLst>
                <a:path h="400050" w="4238624">
                  <a:moveTo>
                    <a:pt x="0" y="0"/>
                  </a:moveTo>
                  <a:lnTo>
                    <a:pt x="4238624" y="0"/>
                  </a:lnTo>
                  <a:lnTo>
                    <a:pt x="4238624" y="400050"/>
                  </a:lnTo>
                  <a:lnTo>
                    <a:pt x="0" y="400050"/>
                  </a:lnTo>
                  <a:close/>
                </a:path>
              </a:pathLst>
            </a:custGeom>
            <a:blipFill>
              <a:blip r:embed="rId16">
                <a:alphaModFix amt="0"/>
              </a:blip>
              <a:stretch>
                <a:fillRect l="0" t="-156448" r="0" b="-156448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19050"/>
              <a:ext cx="4238625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2563EB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PorterStemmer</a:t>
              </a:r>
            </a:p>
          </p:txBody>
        </p:sp>
      </p:grpSp>
      <p:sp>
        <p:nvSpPr>
          <p:cNvPr name="TextBox 72" id="72"/>
          <p:cNvSpPr txBox="true"/>
          <p:nvPr/>
        </p:nvSpPr>
        <p:spPr>
          <a:xfrm rot="0">
            <a:off x="5264944" y="7534123"/>
            <a:ext cx="3521869" cy="586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19"/>
              </a:lnSpc>
            </a:pPr>
            <a:r>
              <a:rPr lang="en-US" sz="1462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Reducing related word forms to common stem representations.</a:t>
            </a:r>
          </a:p>
        </p:txBody>
      </p:sp>
      <p:grpSp>
        <p:nvGrpSpPr>
          <p:cNvPr name="Group 73" id="73"/>
          <p:cNvGrpSpPr/>
          <p:nvPr/>
        </p:nvGrpSpPr>
        <p:grpSpPr>
          <a:xfrm rot="0">
            <a:off x="9815512" y="7195985"/>
            <a:ext cx="3207544" cy="300038"/>
            <a:chOff x="0" y="0"/>
            <a:chExt cx="4276725" cy="40005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4276724" cy="400050"/>
            </a:xfrm>
            <a:custGeom>
              <a:avLst/>
              <a:gdLst/>
              <a:ahLst/>
              <a:cxnLst/>
              <a:rect r="r" b="b" t="t" l="l"/>
              <a:pathLst>
                <a:path h="400050" w="4276724">
                  <a:moveTo>
                    <a:pt x="0" y="0"/>
                  </a:moveTo>
                  <a:lnTo>
                    <a:pt x="4276724" y="0"/>
                  </a:lnTo>
                  <a:lnTo>
                    <a:pt x="4276724" y="400050"/>
                  </a:lnTo>
                  <a:lnTo>
                    <a:pt x="0" y="400050"/>
                  </a:lnTo>
                  <a:close/>
                </a:path>
              </a:pathLst>
            </a:custGeom>
            <a:blipFill>
              <a:blip r:embed="rId16">
                <a:alphaModFix amt="0"/>
              </a:blip>
              <a:stretch>
                <a:fillRect l="0" t="-158304" r="0" b="-158304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19050"/>
              <a:ext cx="4276725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2563EB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Pickle</a:t>
              </a:r>
            </a:p>
          </p:txBody>
        </p:sp>
      </p:grpSp>
      <p:sp>
        <p:nvSpPr>
          <p:cNvPr name="TextBox 76" id="76"/>
          <p:cNvSpPr txBox="true"/>
          <p:nvPr/>
        </p:nvSpPr>
        <p:spPr>
          <a:xfrm rot="0">
            <a:off x="9501188" y="7534123"/>
            <a:ext cx="3521869" cy="586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19"/>
              </a:lnSpc>
            </a:pPr>
            <a:r>
              <a:rPr lang="en-US" sz="1462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Saving and loading the trained machine learning model.</a:t>
            </a:r>
          </a:p>
        </p:txBody>
      </p:sp>
      <p:grpSp>
        <p:nvGrpSpPr>
          <p:cNvPr name="Group 77" id="77"/>
          <p:cNvGrpSpPr/>
          <p:nvPr/>
        </p:nvGrpSpPr>
        <p:grpSpPr>
          <a:xfrm rot="0">
            <a:off x="14051756" y="7195985"/>
            <a:ext cx="3207544" cy="300038"/>
            <a:chOff x="0" y="0"/>
            <a:chExt cx="4276725" cy="40005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4276724" cy="400050"/>
            </a:xfrm>
            <a:custGeom>
              <a:avLst/>
              <a:gdLst/>
              <a:ahLst/>
              <a:cxnLst/>
              <a:rect r="r" b="b" t="t" l="l"/>
              <a:pathLst>
                <a:path h="400050" w="4276724">
                  <a:moveTo>
                    <a:pt x="0" y="0"/>
                  </a:moveTo>
                  <a:lnTo>
                    <a:pt x="4276724" y="0"/>
                  </a:lnTo>
                  <a:lnTo>
                    <a:pt x="4276724" y="400050"/>
                  </a:lnTo>
                  <a:lnTo>
                    <a:pt x="0" y="400050"/>
                  </a:lnTo>
                  <a:close/>
                </a:path>
              </a:pathLst>
            </a:custGeom>
            <a:blipFill>
              <a:blip r:embed="rId16">
                <a:alphaModFix amt="0"/>
              </a:blip>
              <a:stretch>
                <a:fillRect l="0" t="-158304" r="0" b="-158304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19050"/>
              <a:ext cx="4276725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2563EB"/>
                  </a:solidFill>
                  <a:latin typeface="Arimo Bold"/>
                  <a:ea typeface="Arimo Bold"/>
                  <a:cs typeface="Arimo Bold"/>
                  <a:sym typeface="Arimo Bold"/>
                </a:rPr>
                <a:t>accuracy_score</a:t>
              </a:r>
            </a:p>
          </p:txBody>
        </p:sp>
      </p:grpSp>
      <p:sp>
        <p:nvSpPr>
          <p:cNvPr name="TextBox 80" id="80"/>
          <p:cNvSpPr txBox="true"/>
          <p:nvPr/>
        </p:nvSpPr>
        <p:spPr>
          <a:xfrm rot="0">
            <a:off x="13737431" y="7534123"/>
            <a:ext cx="3521869" cy="586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19"/>
              </a:lnSpc>
            </a:pPr>
            <a:r>
              <a:rPr lang="en-US" sz="1462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Measuring training and testing classification accuracy.</a:t>
            </a:r>
          </a:p>
        </p:txBody>
      </p:sp>
      <p:grpSp>
        <p:nvGrpSpPr>
          <p:cNvPr name="Group 81" id="81"/>
          <p:cNvGrpSpPr/>
          <p:nvPr/>
        </p:nvGrpSpPr>
        <p:grpSpPr>
          <a:xfrm rot="0">
            <a:off x="1028700" y="3685280"/>
            <a:ext cx="200025" cy="228600"/>
            <a:chOff x="0" y="0"/>
            <a:chExt cx="266700" cy="304800"/>
          </a:xfrm>
        </p:grpSpPr>
        <p:sp>
          <p:nvSpPr>
            <p:cNvPr name="Freeform 82" id="82" descr="image.png"/>
            <p:cNvSpPr/>
            <p:nvPr/>
          </p:nvSpPr>
          <p:spPr>
            <a:xfrm flipH="false" flipV="false" rot="0">
              <a:off x="0" y="0"/>
              <a:ext cx="266700" cy="304800"/>
            </a:xfrm>
            <a:custGeom>
              <a:avLst/>
              <a:gdLst/>
              <a:ahLst/>
              <a:cxnLst/>
              <a:rect r="r" b="b" t="t" l="l"/>
              <a:pathLst>
                <a:path h="304800" w="266700">
                  <a:moveTo>
                    <a:pt x="0" y="0"/>
                  </a:moveTo>
                  <a:lnTo>
                    <a:pt x="266700" y="0"/>
                  </a:lnTo>
                  <a:lnTo>
                    <a:pt x="2667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-3125" r="0" b="-3125"/>
              </a:stretch>
            </a:blip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5264944" y="3685280"/>
            <a:ext cx="257175" cy="228600"/>
            <a:chOff x="0" y="0"/>
            <a:chExt cx="342900" cy="304800"/>
          </a:xfrm>
        </p:grpSpPr>
        <p:sp>
          <p:nvSpPr>
            <p:cNvPr name="Freeform 84" id="84" descr="image.png"/>
            <p:cNvSpPr/>
            <p:nvPr/>
          </p:nvSpPr>
          <p:spPr>
            <a:xfrm flipH="false" flipV="false" rot="0">
              <a:off x="0" y="0"/>
              <a:ext cx="342900" cy="304800"/>
            </a:xfrm>
            <a:custGeom>
              <a:avLst/>
              <a:gdLst/>
              <a:ahLst/>
              <a:cxnLst/>
              <a:rect r="r" b="b" t="t" l="l"/>
              <a:pathLst>
                <a:path h="30480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-329" r="0" b="-329"/>
              </a:stretch>
            </a:blip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9501188" y="3685280"/>
            <a:ext cx="228600" cy="228600"/>
            <a:chOff x="0" y="0"/>
            <a:chExt cx="304800" cy="304800"/>
          </a:xfrm>
        </p:grpSpPr>
        <p:sp>
          <p:nvSpPr>
            <p:cNvPr name="Freeform 86" id="86" descr="image.png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-3125" r="0" b="-3125"/>
              </a:stretch>
            </a:blip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13737431" y="3685280"/>
            <a:ext cx="228600" cy="228600"/>
            <a:chOff x="0" y="0"/>
            <a:chExt cx="304800" cy="304800"/>
          </a:xfrm>
        </p:grpSpPr>
        <p:sp>
          <p:nvSpPr>
            <p:cNvPr name="Freeform 88" id="88" descr="image.png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0" r="0" b="0"/>
              </a:stretch>
            </a:blip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1028700" y="5323875"/>
            <a:ext cx="171450" cy="228600"/>
            <a:chOff x="0" y="0"/>
            <a:chExt cx="228600" cy="304800"/>
          </a:xfrm>
        </p:grpSpPr>
        <p:sp>
          <p:nvSpPr>
            <p:cNvPr name="Freeform 90" id="90" descr="image.png"/>
            <p:cNvSpPr/>
            <p:nvPr/>
          </p:nvSpPr>
          <p:spPr>
            <a:xfrm flipH="false" flipV="false" rot="0">
              <a:off x="0" y="0"/>
              <a:ext cx="228600" cy="304800"/>
            </a:xfrm>
            <a:custGeom>
              <a:avLst/>
              <a:gdLst/>
              <a:ahLst/>
              <a:cxnLst/>
              <a:rect r="r" b="b" t="t" l="l"/>
              <a:pathLst>
                <a:path h="304800" w="228600">
                  <a:moveTo>
                    <a:pt x="0" y="0"/>
                  </a:moveTo>
                  <a:lnTo>
                    <a:pt x="228600" y="0"/>
                  </a:lnTo>
                  <a:lnTo>
                    <a:pt x="2286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-3125" r="0" b="-3125"/>
              </a:stretch>
            </a:blip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5264944" y="5323875"/>
            <a:ext cx="285750" cy="228600"/>
            <a:chOff x="0" y="0"/>
            <a:chExt cx="381000" cy="304800"/>
          </a:xfrm>
        </p:grpSpPr>
        <p:sp>
          <p:nvSpPr>
            <p:cNvPr name="Freeform 92" id="92" descr="image.png"/>
            <p:cNvSpPr/>
            <p:nvPr/>
          </p:nvSpPr>
          <p:spPr>
            <a:xfrm flipH="false" flipV="false" rot="0">
              <a:off x="0" y="0"/>
              <a:ext cx="381000" cy="304800"/>
            </a:xfrm>
            <a:custGeom>
              <a:avLst/>
              <a:gdLst/>
              <a:ahLst/>
              <a:cxnLst/>
              <a:rect r="r" b="b" t="t" l="l"/>
              <a:pathLst>
                <a:path h="304800" w="381000">
                  <a:moveTo>
                    <a:pt x="0" y="0"/>
                  </a:moveTo>
                  <a:lnTo>
                    <a:pt x="381000" y="0"/>
                  </a:lnTo>
                  <a:lnTo>
                    <a:pt x="3810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595" r="0" b="-595"/>
              </a:stretch>
            </a:blipFill>
          </p:spPr>
        </p:sp>
      </p:grpSp>
      <p:grpSp>
        <p:nvGrpSpPr>
          <p:cNvPr name="Group 93" id="93"/>
          <p:cNvGrpSpPr/>
          <p:nvPr/>
        </p:nvGrpSpPr>
        <p:grpSpPr>
          <a:xfrm rot="0">
            <a:off x="9501188" y="5323875"/>
            <a:ext cx="285750" cy="228600"/>
            <a:chOff x="0" y="0"/>
            <a:chExt cx="381000" cy="304800"/>
          </a:xfrm>
        </p:grpSpPr>
        <p:sp>
          <p:nvSpPr>
            <p:cNvPr name="Freeform 94" id="94" descr="image.png"/>
            <p:cNvSpPr/>
            <p:nvPr/>
          </p:nvSpPr>
          <p:spPr>
            <a:xfrm flipH="false" flipV="false" rot="0">
              <a:off x="0" y="0"/>
              <a:ext cx="381000" cy="304800"/>
            </a:xfrm>
            <a:custGeom>
              <a:avLst/>
              <a:gdLst/>
              <a:ahLst/>
              <a:cxnLst/>
              <a:rect r="r" b="b" t="t" l="l"/>
              <a:pathLst>
                <a:path h="304800" w="381000">
                  <a:moveTo>
                    <a:pt x="0" y="0"/>
                  </a:moveTo>
                  <a:lnTo>
                    <a:pt x="381000" y="0"/>
                  </a:lnTo>
                  <a:lnTo>
                    <a:pt x="3810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>
                <a:fillRect l="0" t="-3125" r="0" b="-3125"/>
              </a:stretch>
            </a:blip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13737431" y="5323875"/>
            <a:ext cx="257175" cy="228600"/>
            <a:chOff x="0" y="0"/>
            <a:chExt cx="342900" cy="304800"/>
          </a:xfrm>
        </p:grpSpPr>
        <p:sp>
          <p:nvSpPr>
            <p:cNvPr name="Freeform 96" id="96" descr="image.png"/>
            <p:cNvSpPr/>
            <p:nvPr/>
          </p:nvSpPr>
          <p:spPr>
            <a:xfrm flipH="false" flipV="false" rot="0">
              <a:off x="0" y="0"/>
              <a:ext cx="342900" cy="304800"/>
            </a:xfrm>
            <a:custGeom>
              <a:avLst/>
              <a:gdLst/>
              <a:ahLst/>
              <a:cxnLst/>
              <a:rect r="r" b="b" t="t" l="l"/>
              <a:pathLst>
                <a:path h="30480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>
                <a:fillRect l="0" t="-329" r="0" b="-329"/>
              </a:stretch>
            </a:blip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1028700" y="7231704"/>
            <a:ext cx="285750" cy="228600"/>
            <a:chOff x="0" y="0"/>
            <a:chExt cx="381000" cy="304800"/>
          </a:xfrm>
        </p:grpSpPr>
        <p:sp>
          <p:nvSpPr>
            <p:cNvPr name="Freeform 98" id="98" descr="image.png"/>
            <p:cNvSpPr/>
            <p:nvPr/>
          </p:nvSpPr>
          <p:spPr>
            <a:xfrm flipH="false" flipV="false" rot="0">
              <a:off x="0" y="0"/>
              <a:ext cx="381000" cy="304800"/>
            </a:xfrm>
            <a:custGeom>
              <a:avLst/>
              <a:gdLst/>
              <a:ahLst/>
              <a:cxnLst/>
              <a:rect r="r" b="b" t="t" l="l"/>
              <a:pathLst>
                <a:path h="304800" w="381000">
                  <a:moveTo>
                    <a:pt x="0" y="0"/>
                  </a:moveTo>
                  <a:lnTo>
                    <a:pt x="381000" y="0"/>
                  </a:lnTo>
                  <a:lnTo>
                    <a:pt x="3810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/>
              <a:stretch>
                <a:fillRect l="0" t="-3125" r="0" b="-3125"/>
              </a:stretch>
            </a:blip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5264944" y="7231704"/>
            <a:ext cx="228600" cy="228600"/>
            <a:chOff x="0" y="0"/>
            <a:chExt cx="304800" cy="304800"/>
          </a:xfrm>
        </p:grpSpPr>
        <p:sp>
          <p:nvSpPr>
            <p:cNvPr name="Freeform 100" id="100" descr="image.png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/>
              <a:stretch>
                <a:fillRect l="0" t="0" r="0" b="0"/>
              </a:stretch>
            </a:blip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9501188" y="7231704"/>
            <a:ext cx="200025" cy="228600"/>
            <a:chOff x="0" y="0"/>
            <a:chExt cx="266700" cy="304800"/>
          </a:xfrm>
        </p:grpSpPr>
        <p:sp>
          <p:nvSpPr>
            <p:cNvPr name="Freeform 102" id="102" descr="image.png"/>
            <p:cNvSpPr/>
            <p:nvPr/>
          </p:nvSpPr>
          <p:spPr>
            <a:xfrm flipH="false" flipV="false" rot="0">
              <a:off x="0" y="0"/>
              <a:ext cx="266700" cy="304800"/>
            </a:xfrm>
            <a:custGeom>
              <a:avLst/>
              <a:gdLst/>
              <a:ahLst/>
              <a:cxnLst/>
              <a:rect r="r" b="b" t="t" l="l"/>
              <a:pathLst>
                <a:path h="304800" w="266700">
                  <a:moveTo>
                    <a:pt x="0" y="0"/>
                  </a:moveTo>
                  <a:lnTo>
                    <a:pt x="266700" y="0"/>
                  </a:lnTo>
                  <a:lnTo>
                    <a:pt x="2667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7"/>
              <a:stretch>
                <a:fillRect l="0" t="-3125" r="0" b="-3125"/>
              </a:stretch>
            </a:blipFill>
          </p:spPr>
        </p:sp>
      </p:grpSp>
      <p:grpSp>
        <p:nvGrpSpPr>
          <p:cNvPr name="Group 103" id="103"/>
          <p:cNvGrpSpPr/>
          <p:nvPr/>
        </p:nvGrpSpPr>
        <p:grpSpPr>
          <a:xfrm rot="0">
            <a:off x="13737431" y="7231704"/>
            <a:ext cx="200025" cy="228600"/>
            <a:chOff x="0" y="0"/>
            <a:chExt cx="266700" cy="304800"/>
          </a:xfrm>
        </p:grpSpPr>
        <p:sp>
          <p:nvSpPr>
            <p:cNvPr name="Freeform 104" id="104" descr="image.png"/>
            <p:cNvSpPr/>
            <p:nvPr/>
          </p:nvSpPr>
          <p:spPr>
            <a:xfrm flipH="false" flipV="false" rot="0">
              <a:off x="0" y="0"/>
              <a:ext cx="266700" cy="304800"/>
            </a:xfrm>
            <a:custGeom>
              <a:avLst/>
              <a:gdLst/>
              <a:ahLst/>
              <a:cxnLst/>
              <a:rect r="r" b="b" t="t" l="l"/>
              <a:pathLst>
                <a:path h="304800" w="266700">
                  <a:moveTo>
                    <a:pt x="0" y="0"/>
                  </a:moveTo>
                  <a:lnTo>
                    <a:pt x="266700" y="0"/>
                  </a:lnTo>
                  <a:lnTo>
                    <a:pt x="2667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8"/>
              <a:stretch>
                <a:fillRect l="-419" t="0" r="-419" b="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714500" y="6286500"/>
            <a:ext cx="5715000" cy="5715000"/>
            <a:chOff x="0" y="0"/>
            <a:chExt cx="7620000" cy="7620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7620000" cy="7620000"/>
            </a:xfrm>
            <a:custGeom>
              <a:avLst/>
              <a:gdLst/>
              <a:ahLst/>
              <a:cxnLst/>
              <a:rect r="r" b="b" t="t" l="l"/>
              <a:pathLst>
                <a:path h="7620000" w="7620000">
                  <a:moveTo>
                    <a:pt x="0" y="0"/>
                  </a:moveTo>
                  <a:lnTo>
                    <a:pt x="7620000" y="0"/>
                  </a:lnTo>
                  <a:lnTo>
                    <a:pt x="7620000" y="7620000"/>
                  </a:lnTo>
                  <a:lnTo>
                    <a:pt x="0" y="7620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785812" y="526911"/>
            <a:ext cx="4331360" cy="516077"/>
            <a:chOff x="0" y="0"/>
            <a:chExt cx="4476750" cy="53340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4476750" cy="533400"/>
            </a:xfrm>
            <a:custGeom>
              <a:avLst/>
              <a:gdLst/>
              <a:ahLst/>
              <a:cxnLst/>
              <a:rect r="r" b="b" t="t" l="l"/>
              <a:pathLst>
                <a:path h="533400" w="4476750">
                  <a:moveTo>
                    <a:pt x="0" y="0"/>
                  </a:moveTo>
                  <a:lnTo>
                    <a:pt x="4476750" y="0"/>
                  </a:lnTo>
                  <a:lnTo>
                    <a:pt x="447675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652" r="0" b="-365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785812" y="2263007"/>
            <a:ext cx="16716375" cy="885825"/>
            <a:chOff x="0" y="0"/>
            <a:chExt cx="22288500" cy="118110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22288500" cy="1181100"/>
            </a:xfrm>
            <a:custGeom>
              <a:avLst/>
              <a:gdLst/>
              <a:ahLst/>
              <a:cxnLst/>
              <a:rect r="r" b="b" t="t" l="l"/>
              <a:pathLst>
                <a:path h="1181100" w="22288500">
                  <a:moveTo>
                    <a:pt x="0" y="0"/>
                  </a:moveTo>
                  <a:lnTo>
                    <a:pt x="22288500" y="0"/>
                  </a:lnTo>
                  <a:lnTo>
                    <a:pt x="22288500" y="1181100"/>
                  </a:lnTo>
                  <a:lnTo>
                    <a:pt x="0" y="1181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806" r="0" b="-806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85812" y="3534594"/>
            <a:ext cx="16716375" cy="885825"/>
            <a:chOff x="0" y="0"/>
            <a:chExt cx="22288500" cy="118110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22288500" cy="1181100"/>
            </a:xfrm>
            <a:custGeom>
              <a:avLst/>
              <a:gdLst/>
              <a:ahLst/>
              <a:cxnLst/>
              <a:rect r="r" b="b" t="t" l="l"/>
              <a:pathLst>
                <a:path h="1181100" w="22288500">
                  <a:moveTo>
                    <a:pt x="0" y="0"/>
                  </a:moveTo>
                  <a:lnTo>
                    <a:pt x="22288500" y="0"/>
                  </a:lnTo>
                  <a:lnTo>
                    <a:pt x="22288500" y="1181100"/>
                  </a:lnTo>
                  <a:lnTo>
                    <a:pt x="0" y="1181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806" r="0" b="-806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85812" y="4806182"/>
            <a:ext cx="16716375" cy="885825"/>
            <a:chOff x="0" y="0"/>
            <a:chExt cx="22288500" cy="1181100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22288500" cy="1181100"/>
            </a:xfrm>
            <a:custGeom>
              <a:avLst/>
              <a:gdLst/>
              <a:ahLst/>
              <a:cxnLst/>
              <a:rect r="r" b="b" t="t" l="l"/>
              <a:pathLst>
                <a:path h="1181100" w="22288500">
                  <a:moveTo>
                    <a:pt x="0" y="0"/>
                  </a:moveTo>
                  <a:lnTo>
                    <a:pt x="22288500" y="0"/>
                  </a:lnTo>
                  <a:lnTo>
                    <a:pt x="22288500" y="1181100"/>
                  </a:lnTo>
                  <a:lnTo>
                    <a:pt x="0" y="1181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806" r="0" b="-806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785812" y="6077769"/>
            <a:ext cx="16716375" cy="885825"/>
            <a:chOff x="0" y="0"/>
            <a:chExt cx="22288500" cy="1181100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22288500" cy="1181100"/>
            </a:xfrm>
            <a:custGeom>
              <a:avLst/>
              <a:gdLst/>
              <a:ahLst/>
              <a:cxnLst/>
              <a:rect r="r" b="b" t="t" l="l"/>
              <a:pathLst>
                <a:path h="1181100" w="22288500">
                  <a:moveTo>
                    <a:pt x="0" y="0"/>
                  </a:moveTo>
                  <a:lnTo>
                    <a:pt x="22288500" y="0"/>
                  </a:lnTo>
                  <a:lnTo>
                    <a:pt x="22288500" y="1181100"/>
                  </a:lnTo>
                  <a:lnTo>
                    <a:pt x="0" y="1181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806" r="0" b="-806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785812" y="7349357"/>
            <a:ext cx="16716375" cy="885825"/>
            <a:chOff x="0" y="0"/>
            <a:chExt cx="22288500" cy="1181100"/>
          </a:xfrm>
        </p:grpSpPr>
        <p:sp>
          <p:nvSpPr>
            <p:cNvPr name="Freeform 15" id="15" descr="image.png"/>
            <p:cNvSpPr/>
            <p:nvPr/>
          </p:nvSpPr>
          <p:spPr>
            <a:xfrm flipH="false" flipV="false" rot="0">
              <a:off x="0" y="0"/>
              <a:ext cx="22288500" cy="1181100"/>
            </a:xfrm>
            <a:custGeom>
              <a:avLst/>
              <a:gdLst/>
              <a:ahLst/>
              <a:cxnLst/>
              <a:rect r="r" b="b" t="t" l="l"/>
              <a:pathLst>
                <a:path h="1181100" w="22288500">
                  <a:moveTo>
                    <a:pt x="0" y="0"/>
                  </a:moveTo>
                  <a:lnTo>
                    <a:pt x="22288500" y="0"/>
                  </a:lnTo>
                  <a:lnTo>
                    <a:pt x="22288500" y="1181100"/>
                  </a:lnTo>
                  <a:lnTo>
                    <a:pt x="0" y="1181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806" r="0" b="-806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785812" y="8620944"/>
            <a:ext cx="16716375" cy="885825"/>
            <a:chOff x="0" y="0"/>
            <a:chExt cx="22288500" cy="1181100"/>
          </a:xfrm>
        </p:grpSpPr>
        <p:sp>
          <p:nvSpPr>
            <p:cNvPr name="Freeform 17" id="17" descr="image.png"/>
            <p:cNvSpPr/>
            <p:nvPr/>
          </p:nvSpPr>
          <p:spPr>
            <a:xfrm flipH="false" flipV="false" rot="0">
              <a:off x="0" y="0"/>
              <a:ext cx="22288500" cy="1181100"/>
            </a:xfrm>
            <a:custGeom>
              <a:avLst/>
              <a:gdLst/>
              <a:ahLst/>
              <a:cxnLst/>
              <a:rect r="r" b="b" t="t" l="l"/>
              <a:pathLst>
                <a:path h="1181100" w="22288500">
                  <a:moveTo>
                    <a:pt x="0" y="0"/>
                  </a:moveTo>
                  <a:lnTo>
                    <a:pt x="22288500" y="0"/>
                  </a:lnTo>
                  <a:lnTo>
                    <a:pt x="22288500" y="1181100"/>
                  </a:lnTo>
                  <a:lnTo>
                    <a:pt x="0" y="1181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806" r="0" b="-806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3943350" y="2448744"/>
            <a:ext cx="13258800" cy="514350"/>
            <a:chOff x="0" y="0"/>
            <a:chExt cx="17678400" cy="685800"/>
          </a:xfrm>
        </p:grpSpPr>
        <p:sp>
          <p:nvSpPr>
            <p:cNvPr name="Freeform 19" id="19" descr="image.png"/>
            <p:cNvSpPr/>
            <p:nvPr/>
          </p:nvSpPr>
          <p:spPr>
            <a:xfrm flipH="false" flipV="false" rot="0">
              <a:off x="0" y="0"/>
              <a:ext cx="17678400" cy="685800"/>
            </a:xfrm>
            <a:custGeom>
              <a:avLst/>
              <a:gdLst/>
              <a:ahLst/>
              <a:cxnLst/>
              <a:rect r="r" b="b" t="t" l="l"/>
              <a:pathLst>
                <a:path h="685800" w="17678400">
                  <a:moveTo>
                    <a:pt x="0" y="0"/>
                  </a:moveTo>
                  <a:lnTo>
                    <a:pt x="17678400" y="0"/>
                  </a:lnTo>
                  <a:lnTo>
                    <a:pt x="176784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1277" r="0" b="-1279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3943350" y="3720332"/>
            <a:ext cx="13258800" cy="514350"/>
            <a:chOff x="0" y="0"/>
            <a:chExt cx="17678400" cy="685800"/>
          </a:xfrm>
        </p:grpSpPr>
        <p:sp>
          <p:nvSpPr>
            <p:cNvPr name="Freeform 21" id="21" descr="image.png"/>
            <p:cNvSpPr/>
            <p:nvPr/>
          </p:nvSpPr>
          <p:spPr>
            <a:xfrm flipH="false" flipV="false" rot="0">
              <a:off x="0" y="0"/>
              <a:ext cx="17678400" cy="685800"/>
            </a:xfrm>
            <a:custGeom>
              <a:avLst/>
              <a:gdLst/>
              <a:ahLst/>
              <a:cxnLst/>
              <a:rect r="r" b="b" t="t" l="l"/>
              <a:pathLst>
                <a:path h="685800" w="17678400">
                  <a:moveTo>
                    <a:pt x="0" y="0"/>
                  </a:moveTo>
                  <a:lnTo>
                    <a:pt x="17678400" y="0"/>
                  </a:lnTo>
                  <a:lnTo>
                    <a:pt x="176784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1277" r="0" b="-1279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3943350" y="4991919"/>
            <a:ext cx="13258800" cy="514350"/>
            <a:chOff x="0" y="0"/>
            <a:chExt cx="17678400" cy="685800"/>
          </a:xfrm>
        </p:grpSpPr>
        <p:sp>
          <p:nvSpPr>
            <p:cNvPr name="Freeform 23" id="23" descr="image.png"/>
            <p:cNvSpPr/>
            <p:nvPr/>
          </p:nvSpPr>
          <p:spPr>
            <a:xfrm flipH="false" flipV="false" rot="0">
              <a:off x="0" y="0"/>
              <a:ext cx="17678400" cy="685800"/>
            </a:xfrm>
            <a:custGeom>
              <a:avLst/>
              <a:gdLst/>
              <a:ahLst/>
              <a:cxnLst/>
              <a:rect r="r" b="b" t="t" l="l"/>
              <a:pathLst>
                <a:path h="685800" w="17678400">
                  <a:moveTo>
                    <a:pt x="0" y="0"/>
                  </a:moveTo>
                  <a:lnTo>
                    <a:pt x="17678400" y="0"/>
                  </a:lnTo>
                  <a:lnTo>
                    <a:pt x="176784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1277" r="0" b="-1279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3943350" y="6263507"/>
            <a:ext cx="13258800" cy="514350"/>
            <a:chOff x="0" y="0"/>
            <a:chExt cx="17678400" cy="685800"/>
          </a:xfrm>
        </p:grpSpPr>
        <p:sp>
          <p:nvSpPr>
            <p:cNvPr name="Freeform 25" id="25" descr="image.png"/>
            <p:cNvSpPr/>
            <p:nvPr/>
          </p:nvSpPr>
          <p:spPr>
            <a:xfrm flipH="false" flipV="false" rot="0">
              <a:off x="0" y="0"/>
              <a:ext cx="17678400" cy="685800"/>
            </a:xfrm>
            <a:custGeom>
              <a:avLst/>
              <a:gdLst/>
              <a:ahLst/>
              <a:cxnLst/>
              <a:rect r="r" b="b" t="t" l="l"/>
              <a:pathLst>
                <a:path h="685800" w="17678400">
                  <a:moveTo>
                    <a:pt x="0" y="0"/>
                  </a:moveTo>
                  <a:lnTo>
                    <a:pt x="17678400" y="0"/>
                  </a:lnTo>
                  <a:lnTo>
                    <a:pt x="176784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1277" r="0" b="-1279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3943350" y="7535094"/>
            <a:ext cx="13258800" cy="514350"/>
            <a:chOff x="0" y="0"/>
            <a:chExt cx="17678400" cy="685800"/>
          </a:xfrm>
        </p:grpSpPr>
        <p:sp>
          <p:nvSpPr>
            <p:cNvPr name="Freeform 27" id="27" descr="image.png"/>
            <p:cNvSpPr/>
            <p:nvPr/>
          </p:nvSpPr>
          <p:spPr>
            <a:xfrm flipH="false" flipV="false" rot="0">
              <a:off x="0" y="0"/>
              <a:ext cx="17678400" cy="685800"/>
            </a:xfrm>
            <a:custGeom>
              <a:avLst/>
              <a:gdLst/>
              <a:ahLst/>
              <a:cxnLst/>
              <a:rect r="r" b="b" t="t" l="l"/>
              <a:pathLst>
                <a:path h="685800" w="17678400">
                  <a:moveTo>
                    <a:pt x="0" y="0"/>
                  </a:moveTo>
                  <a:lnTo>
                    <a:pt x="17678400" y="0"/>
                  </a:lnTo>
                  <a:lnTo>
                    <a:pt x="176784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1277" r="0" b="-1279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3943350" y="8806682"/>
            <a:ext cx="13258800" cy="514350"/>
            <a:chOff x="0" y="0"/>
            <a:chExt cx="17678400" cy="685800"/>
          </a:xfrm>
        </p:grpSpPr>
        <p:sp>
          <p:nvSpPr>
            <p:cNvPr name="Freeform 29" id="29" descr="image.png"/>
            <p:cNvSpPr/>
            <p:nvPr/>
          </p:nvSpPr>
          <p:spPr>
            <a:xfrm flipH="false" flipV="false" rot="0">
              <a:off x="0" y="0"/>
              <a:ext cx="17678400" cy="685800"/>
            </a:xfrm>
            <a:custGeom>
              <a:avLst/>
              <a:gdLst/>
              <a:ahLst/>
              <a:cxnLst/>
              <a:rect r="r" b="b" t="t" l="l"/>
              <a:pathLst>
                <a:path h="685800" w="17678400">
                  <a:moveTo>
                    <a:pt x="0" y="0"/>
                  </a:moveTo>
                  <a:lnTo>
                    <a:pt x="17678400" y="0"/>
                  </a:lnTo>
                  <a:lnTo>
                    <a:pt x="176784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-1277" r="0" b="-1279"/>
              </a:stretch>
            </a:blip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785812" y="1166812"/>
            <a:ext cx="17502188" cy="601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0"/>
              </a:lnSpc>
            </a:pPr>
            <a:r>
              <a:rPr lang="en-US" sz="3825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Raw Tweet to Sentiment Prediction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85838" y="750094"/>
            <a:ext cx="235744" cy="185738"/>
            <a:chOff x="0" y="0"/>
            <a:chExt cx="314325" cy="247650"/>
          </a:xfrm>
        </p:grpSpPr>
        <p:sp>
          <p:nvSpPr>
            <p:cNvPr name="Freeform 32" id="32" descr="image.png"/>
            <p:cNvSpPr/>
            <p:nvPr/>
          </p:nvSpPr>
          <p:spPr>
            <a:xfrm flipH="false" flipV="false" rot="0">
              <a:off x="0" y="0"/>
              <a:ext cx="314325" cy="247650"/>
            </a:xfrm>
            <a:custGeom>
              <a:avLst/>
              <a:gdLst/>
              <a:ahLst/>
              <a:cxnLst/>
              <a:rect r="r" b="b" t="t" l="l"/>
              <a:pathLst>
                <a:path h="247650" w="314325">
                  <a:moveTo>
                    <a:pt x="0" y="0"/>
                  </a:moveTo>
                  <a:lnTo>
                    <a:pt x="314325" y="0"/>
                  </a:lnTo>
                  <a:lnTo>
                    <a:pt x="314325" y="247650"/>
                  </a:lnTo>
                  <a:lnTo>
                    <a:pt x="0" y="247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-2261" r="0" b="-2261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411786" y="2577332"/>
            <a:ext cx="2531564" cy="257175"/>
            <a:chOff x="0" y="0"/>
            <a:chExt cx="3375419" cy="3429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375420" cy="342900"/>
            </a:xfrm>
            <a:custGeom>
              <a:avLst/>
              <a:gdLst/>
              <a:ahLst/>
              <a:cxnLst/>
              <a:rect r="r" b="b" t="t" l="l"/>
              <a:pathLst>
                <a:path h="342900" w="3375420">
                  <a:moveTo>
                    <a:pt x="0" y="0"/>
                  </a:moveTo>
                  <a:lnTo>
                    <a:pt x="3375420" y="0"/>
                  </a:lnTo>
                  <a:lnTo>
                    <a:pt x="3375420" y="342900"/>
                  </a:lnTo>
                  <a:lnTo>
                    <a:pt x="0" y="342900"/>
                  </a:lnTo>
                  <a:close/>
                </a:path>
              </a:pathLst>
            </a:custGeom>
            <a:blipFill>
              <a:blip r:embed="rId15">
                <a:alphaModFix amt="0"/>
              </a:blip>
              <a:stretch>
                <a:fillRect l="0" t="-141805" r="0" b="-141805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"/>
              <a:ext cx="3375419" cy="352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2563EB"/>
                  </a:solidFill>
                  <a:latin typeface="Arimo Bold"/>
                  <a:ea typeface="Arimo Bold"/>
                  <a:cs typeface="Arimo Bold"/>
                  <a:sym typeface="Arimo Bold"/>
                </a:rPr>
                <a:t>LAYER 1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9079706" y="3263132"/>
            <a:ext cx="128588" cy="171450"/>
            <a:chOff x="0" y="0"/>
            <a:chExt cx="171450" cy="228600"/>
          </a:xfrm>
        </p:grpSpPr>
        <p:sp>
          <p:nvSpPr>
            <p:cNvPr name="Freeform 37" id="37" descr="image.png"/>
            <p:cNvSpPr/>
            <p:nvPr/>
          </p:nvSpPr>
          <p:spPr>
            <a:xfrm flipH="false" flipV="false" rot="0">
              <a:off x="0" y="0"/>
              <a:ext cx="171450" cy="228600"/>
            </a:xfrm>
            <a:custGeom>
              <a:avLst/>
              <a:gdLst/>
              <a:ahLst/>
              <a:cxnLst/>
              <a:rect r="r" b="b" t="t" l="l"/>
              <a:pathLst>
                <a:path h="228600" w="171450">
                  <a:moveTo>
                    <a:pt x="0" y="0"/>
                  </a:moveTo>
                  <a:lnTo>
                    <a:pt x="171450" y="0"/>
                  </a:lnTo>
                  <a:lnTo>
                    <a:pt x="171450" y="228600"/>
                  </a:lnTo>
                  <a:lnTo>
                    <a:pt x="0" y="228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-1281" t="0" r="-1281" b="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440361" y="3848919"/>
            <a:ext cx="2502989" cy="257175"/>
            <a:chOff x="0" y="0"/>
            <a:chExt cx="3337319" cy="3429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337320" cy="342900"/>
            </a:xfrm>
            <a:custGeom>
              <a:avLst/>
              <a:gdLst/>
              <a:ahLst/>
              <a:cxnLst/>
              <a:rect r="r" b="b" t="t" l="l"/>
              <a:pathLst>
                <a:path h="342900" w="3337320">
                  <a:moveTo>
                    <a:pt x="0" y="0"/>
                  </a:moveTo>
                  <a:lnTo>
                    <a:pt x="3337320" y="0"/>
                  </a:lnTo>
                  <a:lnTo>
                    <a:pt x="3337320" y="342900"/>
                  </a:lnTo>
                  <a:lnTo>
                    <a:pt x="0" y="342900"/>
                  </a:lnTo>
                  <a:close/>
                </a:path>
              </a:pathLst>
            </a:custGeom>
            <a:blipFill>
              <a:blip r:embed="rId15">
                <a:alphaModFix amt="0"/>
              </a:blip>
              <a:stretch>
                <a:fillRect l="0" t="-139640" r="0" b="-13964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9525"/>
              <a:ext cx="3337319" cy="352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2563EB"/>
                  </a:solidFill>
                  <a:latin typeface="Arimo Bold"/>
                  <a:ea typeface="Arimo Bold"/>
                  <a:cs typeface="Arimo Bold"/>
                  <a:sym typeface="Arimo Bold"/>
                </a:rPr>
                <a:t>LAYER 2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079706" y="4534719"/>
            <a:ext cx="128588" cy="171450"/>
            <a:chOff x="0" y="0"/>
            <a:chExt cx="171450" cy="228600"/>
          </a:xfrm>
        </p:grpSpPr>
        <p:sp>
          <p:nvSpPr>
            <p:cNvPr name="Freeform 42" id="42" descr="image.png"/>
            <p:cNvSpPr/>
            <p:nvPr/>
          </p:nvSpPr>
          <p:spPr>
            <a:xfrm flipH="false" flipV="false" rot="0">
              <a:off x="0" y="0"/>
              <a:ext cx="171450" cy="228600"/>
            </a:xfrm>
            <a:custGeom>
              <a:avLst/>
              <a:gdLst/>
              <a:ahLst/>
              <a:cxnLst/>
              <a:rect r="r" b="b" t="t" l="l"/>
              <a:pathLst>
                <a:path h="228600" w="171450">
                  <a:moveTo>
                    <a:pt x="0" y="0"/>
                  </a:moveTo>
                  <a:lnTo>
                    <a:pt x="171450" y="0"/>
                  </a:lnTo>
                  <a:lnTo>
                    <a:pt x="171450" y="228600"/>
                  </a:lnTo>
                  <a:lnTo>
                    <a:pt x="0" y="228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-1281" t="0" r="-1281" b="0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440361" y="5120507"/>
            <a:ext cx="2502989" cy="257175"/>
            <a:chOff x="0" y="0"/>
            <a:chExt cx="3337319" cy="3429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337320" cy="342900"/>
            </a:xfrm>
            <a:custGeom>
              <a:avLst/>
              <a:gdLst/>
              <a:ahLst/>
              <a:cxnLst/>
              <a:rect r="r" b="b" t="t" l="l"/>
              <a:pathLst>
                <a:path h="342900" w="3337320">
                  <a:moveTo>
                    <a:pt x="0" y="0"/>
                  </a:moveTo>
                  <a:lnTo>
                    <a:pt x="3337320" y="0"/>
                  </a:lnTo>
                  <a:lnTo>
                    <a:pt x="3337320" y="342900"/>
                  </a:lnTo>
                  <a:lnTo>
                    <a:pt x="0" y="342900"/>
                  </a:lnTo>
                  <a:close/>
                </a:path>
              </a:pathLst>
            </a:custGeom>
            <a:blipFill>
              <a:blip r:embed="rId15">
                <a:alphaModFix amt="0"/>
              </a:blip>
              <a:stretch>
                <a:fillRect l="0" t="-139640" r="0" b="-13964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9525"/>
              <a:ext cx="3337319" cy="352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2563EB"/>
                  </a:solidFill>
                  <a:latin typeface="Arimo Bold"/>
                  <a:ea typeface="Arimo Bold"/>
                  <a:cs typeface="Arimo Bold"/>
                  <a:sym typeface="Arimo Bold"/>
                </a:rPr>
                <a:t>LAYER 3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9079706" y="5806307"/>
            <a:ext cx="128588" cy="171450"/>
            <a:chOff x="0" y="0"/>
            <a:chExt cx="171450" cy="228600"/>
          </a:xfrm>
        </p:grpSpPr>
        <p:sp>
          <p:nvSpPr>
            <p:cNvPr name="Freeform 47" id="47" descr="image.png"/>
            <p:cNvSpPr/>
            <p:nvPr/>
          </p:nvSpPr>
          <p:spPr>
            <a:xfrm flipH="false" flipV="false" rot="0">
              <a:off x="0" y="0"/>
              <a:ext cx="171450" cy="228600"/>
            </a:xfrm>
            <a:custGeom>
              <a:avLst/>
              <a:gdLst/>
              <a:ahLst/>
              <a:cxnLst/>
              <a:rect r="r" b="b" t="t" l="l"/>
              <a:pathLst>
                <a:path h="228600" w="171450">
                  <a:moveTo>
                    <a:pt x="0" y="0"/>
                  </a:moveTo>
                  <a:lnTo>
                    <a:pt x="171450" y="0"/>
                  </a:lnTo>
                  <a:lnTo>
                    <a:pt x="171450" y="228600"/>
                  </a:lnTo>
                  <a:lnTo>
                    <a:pt x="0" y="228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-1281" t="0" r="-1281" b="0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411786" y="6392094"/>
            <a:ext cx="2531564" cy="257175"/>
            <a:chOff x="0" y="0"/>
            <a:chExt cx="3375419" cy="3429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375420" cy="342900"/>
            </a:xfrm>
            <a:custGeom>
              <a:avLst/>
              <a:gdLst/>
              <a:ahLst/>
              <a:cxnLst/>
              <a:rect r="r" b="b" t="t" l="l"/>
              <a:pathLst>
                <a:path h="342900" w="3375420">
                  <a:moveTo>
                    <a:pt x="0" y="0"/>
                  </a:moveTo>
                  <a:lnTo>
                    <a:pt x="3375420" y="0"/>
                  </a:lnTo>
                  <a:lnTo>
                    <a:pt x="3375420" y="342900"/>
                  </a:lnTo>
                  <a:lnTo>
                    <a:pt x="0" y="342900"/>
                  </a:lnTo>
                  <a:close/>
                </a:path>
              </a:pathLst>
            </a:custGeom>
            <a:blipFill>
              <a:blip r:embed="rId15">
                <a:alphaModFix amt="0"/>
              </a:blip>
              <a:stretch>
                <a:fillRect l="0" t="-141805" r="0" b="-141805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9525"/>
              <a:ext cx="3375419" cy="352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2563EB"/>
                  </a:solidFill>
                  <a:latin typeface="Arimo Bold"/>
                  <a:ea typeface="Arimo Bold"/>
                  <a:cs typeface="Arimo Bold"/>
                  <a:sym typeface="Arimo Bold"/>
                </a:rPr>
                <a:t>LAYER 4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9079706" y="7077894"/>
            <a:ext cx="128588" cy="171450"/>
            <a:chOff x="0" y="0"/>
            <a:chExt cx="171450" cy="228600"/>
          </a:xfrm>
        </p:grpSpPr>
        <p:sp>
          <p:nvSpPr>
            <p:cNvPr name="Freeform 52" id="52" descr="image.png"/>
            <p:cNvSpPr/>
            <p:nvPr/>
          </p:nvSpPr>
          <p:spPr>
            <a:xfrm flipH="false" flipV="false" rot="0">
              <a:off x="0" y="0"/>
              <a:ext cx="171450" cy="228600"/>
            </a:xfrm>
            <a:custGeom>
              <a:avLst/>
              <a:gdLst/>
              <a:ahLst/>
              <a:cxnLst/>
              <a:rect r="r" b="b" t="t" l="l"/>
              <a:pathLst>
                <a:path h="228600" w="171450">
                  <a:moveTo>
                    <a:pt x="0" y="0"/>
                  </a:moveTo>
                  <a:lnTo>
                    <a:pt x="171450" y="0"/>
                  </a:lnTo>
                  <a:lnTo>
                    <a:pt x="171450" y="228600"/>
                  </a:lnTo>
                  <a:lnTo>
                    <a:pt x="0" y="228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-1281" t="0" r="-1281" b="0"/>
              </a:stretch>
            </a:blip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440361" y="7663682"/>
            <a:ext cx="2502989" cy="257175"/>
            <a:chOff x="0" y="0"/>
            <a:chExt cx="3337319" cy="3429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337320" cy="342900"/>
            </a:xfrm>
            <a:custGeom>
              <a:avLst/>
              <a:gdLst/>
              <a:ahLst/>
              <a:cxnLst/>
              <a:rect r="r" b="b" t="t" l="l"/>
              <a:pathLst>
                <a:path h="342900" w="3337320">
                  <a:moveTo>
                    <a:pt x="0" y="0"/>
                  </a:moveTo>
                  <a:lnTo>
                    <a:pt x="3337320" y="0"/>
                  </a:lnTo>
                  <a:lnTo>
                    <a:pt x="3337320" y="342900"/>
                  </a:lnTo>
                  <a:lnTo>
                    <a:pt x="0" y="342900"/>
                  </a:lnTo>
                  <a:close/>
                </a:path>
              </a:pathLst>
            </a:custGeom>
            <a:blipFill>
              <a:blip r:embed="rId15">
                <a:alphaModFix amt="0"/>
              </a:blip>
              <a:stretch>
                <a:fillRect l="0" t="-139640" r="0" b="-13964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9525"/>
              <a:ext cx="3337319" cy="352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2563EB"/>
                  </a:solidFill>
                  <a:latin typeface="Arimo Bold"/>
                  <a:ea typeface="Arimo Bold"/>
                  <a:cs typeface="Arimo Bold"/>
                  <a:sym typeface="Arimo Bold"/>
                </a:rPr>
                <a:t>LAYER 5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9079706" y="8349482"/>
            <a:ext cx="128588" cy="171450"/>
            <a:chOff x="0" y="0"/>
            <a:chExt cx="171450" cy="228600"/>
          </a:xfrm>
        </p:grpSpPr>
        <p:sp>
          <p:nvSpPr>
            <p:cNvPr name="Freeform 57" id="57" descr="image.png"/>
            <p:cNvSpPr/>
            <p:nvPr/>
          </p:nvSpPr>
          <p:spPr>
            <a:xfrm flipH="false" flipV="false" rot="0">
              <a:off x="0" y="0"/>
              <a:ext cx="171450" cy="228600"/>
            </a:xfrm>
            <a:custGeom>
              <a:avLst/>
              <a:gdLst/>
              <a:ahLst/>
              <a:cxnLst/>
              <a:rect r="r" b="b" t="t" l="l"/>
              <a:pathLst>
                <a:path h="228600" w="171450">
                  <a:moveTo>
                    <a:pt x="0" y="0"/>
                  </a:moveTo>
                  <a:lnTo>
                    <a:pt x="171450" y="0"/>
                  </a:lnTo>
                  <a:lnTo>
                    <a:pt x="171450" y="228600"/>
                  </a:lnTo>
                  <a:lnTo>
                    <a:pt x="0" y="228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-1281" t="0" r="-1281" b="0"/>
              </a:stretch>
            </a:blip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397498" y="8935269"/>
            <a:ext cx="2545852" cy="257175"/>
            <a:chOff x="0" y="0"/>
            <a:chExt cx="3394469" cy="3429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3394470" cy="342900"/>
            </a:xfrm>
            <a:custGeom>
              <a:avLst/>
              <a:gdLst/>
              <a:ahLst/>
              <a:cxnLst/>
              <a:rect r="r" b="b" t="t" l="l"/>
              <a:pathLst>
                <a:path h="342900" w="3394470">
                  <a:moveTo>
                    <a:pt x="0" y="0"/>
                  </a:moveTo>
                  <a:lnTo>
                    <a:pt x="3394470" y="0"/>
                  </a:lnTo>
                  <a:lnTo>
                    <a:pt x="3394470" y="342900"/>
                  </a:lnTo>
                  <a:lnTo>
                    <a:pt x="0" y="342900"/>
                  </a:lnTo>
                  <a:close/>
                </a:path>
              </a:pathLst>
            </a:custGeom>
            <a:blipFill>
              <a:blip r:embed="rId15">
                <a:alphaModFix amt="0"/>
              </a:blip>
              <a:stretch>
                <a:fillRect l="0" t="-142888" r="0" b="-142888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9525"/>
              <a:ext cx="3394469" cy="352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1D4ED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LAYER 6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085850" y="2605907"/>
            <a:ext cx="183061" cy="200025"/>
            <a:chOff x="0" y="0"/>
            <a:chExt cx="244081" cy="266700"/>
          </a:xfrm>
        </p:grpSpPr>
        <p:sp>
          <p:nvSpPr>
            <p:cNvPr name="Freeform 62" id="62" descr="image.png"/>
            <p:cNvSpPr/>
            <p:nvPr/>
          </p:nvSpPr>
          <p:spPr>
            <a:xfrm flipH="false" flipV="false" rot="0">
              <a:off x="0" y="0"/>
              <a:ext cx="244094" cy="266700"/>
            </a:xfrm>
            <a:custGeom>
              <a:avLst/>
              <a:gdLst/>
              <a:ahLst/>
              <a:cxnLst/>
              <a:rect r="r" b="b" t="t" l="l"/>
              <a:pathLst>
                <a:path h="266700" w="244094">
                  <a:moveTo>
                    <a:pt x="0" y="0"/>
                  </a:moveTo>
                  <a:lnTo>
                    <a:pt x="244094" y="0"/>
                  </a:lnTo>
                  <a:lnTo>
                    <a:pt x="244094" y="266700"/>
                  </a:lnTo>
                  <a:lnTo>
                    <a:pt x="0" y="266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-2799" r="5" b="-2795"/>
              </a:stretch>
            </a:blip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1085850" y="3877494"/>
            <a:ext cx="211636" cy="200025"/>
            <a:chOff x="0" y="0"/>
            <a:chExt cx="282181" cy="266700"/>
          </a:xfrm>
        </p:grpSpPr>
        <p:sp>
          <p:nvSpPr>
            <p:cNvPr name="Freeform 64" id="64" descr="image.png"/>
            <p:cNvSpPr/>
            <p:nvPr/>
          </p:nvSpPr>
          <p:spPr>
            <a:xfrm flipH="false" flipV="false" rot="0">
              <a:off x="0" y="0"/>
              <a:ext cx="282194" cy="266700"/>
            </a:xfrm>
            <a:custGeom>
              <a:avLst/>
              <a:gdLst/>
              <a:ahLst/>
              <a:cxnLst/>
              <a:rect r="r" b="b" t="t" l="l"/>
              <a:pathLst>
                <a:path h="266700" w="282194">
                  <a:moveTo>
                    <a:pt x="0" y="0"/>
                  </a:moveTo>
                  <a:lnTo>
                    <a:pt x="282194" y="0"/>
                  </a:lnTo>
                  <a:lnTo>
                    <a:pt x="282194" y="266700"/>
                  </a:lnTo>
                  <a:lnTo>
                    <a:pt x="0" y="266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-2900" r="4" b="-2904"/>
              </a:stretch>
            </a:blip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085850" y="5149082"/>
            <a:ext cx="211636" cy="200025"/>
            <a:chOff x="0" y="0"/>
            <a:chExt cx="282181" cy="266700"/>
          </a:xfrm>
        </p:grpSpPr>
        <p:sp>
          <p:nvSpPr>
            <p:cNvPr name="Freeform 66" id="66" descr="image.png"/>
            <p:cNvSpPr/>
            <p:nvPr/>
          </p:nvSpPr>
          <p:spPr>
            <a:xfrm flipH="false" flipV="false" rot="0">
              <a:off x="0" y="0"/>
              <a:ext cx="282194" cy="266700"/>
            </a:xfrm>
            <a:custGeom>
              <a:avLst/>
              <a:gdLst/>
              <a:ahLst/>
              <a:cxnLst/>
              <a:rect r="r" b="b" t="t" l="l"/>
              <a:pathLst>
                <a:path h="266700" w="282194">
                  <a:moveTo>
                    <a:pt x="0" y="0"/>
                  </a:moveTo>
                  <a:lnTo>
                    <a:pt x="282194" y="0"/>
                  </a:lnTo>
                  <a:lnTo>
                    <a:pt x="282194" y="266700"/>
                  </a:lnTo>
                  <a:lnTo>
                    <a:pt x="0" y="266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-2900" r="4" b="-2904"/>
              </a:stretch>
            </a:blip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1085850" y="6420669"/>
            <a:ext cx="183061" cy="200025"/>
            <a:chOff x="0" y="0"/>
            <a:chExt cx="244081" cy="266700"/>
          </a:xfrm>
        </p:grpSpPr>
        <p:sp>
          <p:nvSpPr>
            <p:cNvPr name="Freeform 68" id="68" descr="image.png"/>
            <p:cNvSpPr/>
            <p:nvPr/>
          </p:nvSpPr>
          <p:spPr>
            <a:xfrm flipH="false" flipV="false" rot="0">
              <a:off x="0" y="0"/>
              <a:ext cx="244094" cy="266700"/>
            </a:xfrm>
            <a:custGeom>
              <a:avLst/>
              <a:gdLst/>
              <a:ahLst/>
              <a:cxnLst/>
              <a:rect r="r" b="b" t="t" l="l"/>
              <a:pathLst>
                <a:path h="266700" w="244094">
                  <a:moveTo>
                    <a:pt x="0" y="0"/>
                  </a:moveTo>
                  <a:lnTo>
                    <a:pt x="244094" y="0"/>
                  </a:lnTo>
                  <a:lnTo>
                    <a:pt x="244094" y="266700"/>
                  </a:lnTo>
                  <a:lnTo>
                    <a:pt x="0" y="266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-2799" r="5" b="-2795"/>
              </a:stretch>
            </a:blip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1085850" y="7692257"/>
            <a:ext cx="211636" cy="200025"/>
            <a:chOff x="0" y="0"/>
            <a:chExt cx="282181" cy="266700"/>
          </a:xfrm>
        </p:grpSpPr>
        <p:sp>
          <p:nvSpPr>
            <p:cNvPr name="Freeform 70" id="70" descr="image.png"/>
            <p:cNvSpPr/>
            <p:nvPr/>
          </p:nvSpPr>
          <p:spPr>
            <a:xfrm flipH="false" flipV="false" rot="0">
              <a:off x="0" y="0"/>
              <a:ext cx="282194" cy="266700"/>
            </a:xfrm>
            <a:custGeom>
              <a:avLst/>
              <a:gdLst/>
              <a:ahLst/>
              <a:cxnLst/>
              <a:rect r="r" b="b" t="t" l="l"/>
              <a:pathLst>
                <a:path h="266700" w="282194">
                  <a:moveTo>
                    <a:pt x="0" y="0"/>
                  </a:moveTo>
                  <a:lnTo>
                    <a:pt x="282194" y="0"/>
                  </a:lnTo>
                  <a:lnTo>
                    <a:pt x="282194" y="266700"/>
                  </a:lnTo>
                  <a:lnTo>
                    <a:pt x="0" y="266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-2900" r="4" b="-2904"/>
              </a:stretch>
            </a:blip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085850" y="8963844"/>
            <a:ext cx="168773" cy="200025"/>
            <a:chOff x="0" y="0"/>
            <a:chExt cx="225031" cy="266700"/>
          </a:xfrm>
        </p:grpSpPr>
        <p:sp>
          <p:nvSpPr>
            <p:cNvPr name="Freeform 72" id="72" descr="image.png"/>
            <p:cNvSpPr/>
            <p:nvPr/>
          </p:nvSpPr>
          <p:spPr>
            <a:xfrm flipH="false" flipV="false" rot="0">
              <a:off x="0" y="0"/>
              <a:ext cx="225044" cy="266700"/>
            </a:xfrm>
            <a:custGeom>
              <a:avLst/>
              <a:gdLst/>
              <a:ahLst/>
              <a:cxnLst/>
              <a:rect r="r" b="b" t="t" l="l"/>
              <a:pathLst>
                <a:path h="266700" w="225044">
                  <a:moveTo>
                    <a:pt x="0" y="0"/>
                  </a:moveTo>
                  <a:lnTo>
                    <a:pt x="225044" y="0"/>
                  </a:lnTo>
                  <a:lnTo>
                    <a:pt x="225044" y="266700"/>
                  </a:lnTo>
                  <a:lnTo>
                    <a:pt x="0" y="266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2733" r="5" b="-2733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716125" y="-1428750"/>
            <a:ext cx="5000625" cy="5000625"/>
            <a:chOff x="0" y="0"/>
            <a:chExt cx="6667500" cy="66675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6667500" cy="6667500"/>
            </a:xfrm>
            <a:custGeom>
              <a:avLst/>
              <a:gdLst/>
              <a:ahLst/>
              <a:cxnLst/>
              <a:rect r="r" b="b" t="t" l="l"/>
              <a:pathLst>
                <a:path h="6667500" w="6667500">
                  <a:moveTo>
                    <a:pt x="0" y="0"/>
                  </a:moveTo>
                  <a:lnTo>
                    <a:pt x="6667500" y="0"/>
                  </a:lnTo>
                  <a:lnTo>
                    <a:pt x="6667500" y="6667500"/>
                  </a:lnTo>
                  <a:lnTo>
                    <a:pt x="0" y="6667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785812" y="3550663"/>
            <a:ext cx="4007644" cy="2219916"/>
            <a:chOff x="0" y="0"/>
            <a:chExt cx="5343525" cy="2959887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5343525" cy="2959862"/>
            </a:xfrm>
            <a:custGeom>
              <a:avLst/>
              <a:gdLst/>
              <a:ahLst/>
              <a:cxnLst/>
              <a:rect r="r" b="b" t="t" l="l"/>
              <a:pathLst>
                <a:path h="2959862" w="5343525">
                  <a:moveTo>
                    <a:pt x="0" y="0"/>
                  </a:moveTo>
                  <a:lnTo>
                    <a:pt x="5343525" y="0"/>
                  </a:lnTo>
                  <a:lnTo>
                    <a:pt x="5343525" y="2959862"/>
                  </a:lnTo>
                  <a:lnTo>
                    <a:pt x="0" y="29598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11" r="0" b="-11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5022056" y="3550663"/>
            <a:ext cx="4007644" cy="2219916"/>
            <a:chOff x="0" y="0"/>
            <a:chExt cx="5343525" cy="2959887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5343525" cy="2959862"/>
            </a:xfrm>
            <a:custGeom>
              <a:avLst/>
              <a:gdLst/>
              <a:ahLst/>
              <a:cxnLst/>
              <a:rect r="r" b="b" t="t" l="l"/>
              <a:pathLst>
                <a:path h="2959862" w="5343525">
                  <a:moveTo>
                    <a:pt x="0" y="0"/>
                  </a:moveTo>
                  <a:lnTo>
                    <a:pt x="5343525" y="0"/>
                  </a:lnTo>
                  <a:lnTo>
                    <a:pt x="5343525" y="2959862"/>
                  </a:lnTo>
                  <a:lnTo>
                    <a:pt x="0" y="29598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11" r="0" b="-112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258300" y="3550663"/>
            <a:ext cx="4007644" cy="2219916"/>
            <a:chOff x="0" y="0"/>
            <a:chExt cx="5343525" cy="2959887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5343525" cy="2959862"/>
            </a:xfrm>
            <a:custGeom>
              <a:avLst/>
              <a:gdLst/>
              <a:ahLst/>
              <a:cxnLst/>
              <a:rect r="r" b="b" t="t" l="l"/>
              <a:pathLst>
                <a:path h="2959862" w="5343525">
                  <a:moveTo>
                    <a:pt x="0" y="0"/>
                  </a:moveTo>
                  <a:lnTo>
                    <a:pt x="5343525" y="0"/>
                  </a:lnTo>
                  <a:lnTo>
                    <a:pt x="5343525" y="2959862"/>
                  </a:lnTo>
                  <a:lnTo>
                    <a:pt x="0" y="29598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11" r="0" b="-112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494544" y="3550663"/>
            <a:ext cx="4007644" cy="2219916"/>
            <a:chOff x="0" y="0"/>
            <a:chExt cx="5343525" cy="2959887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5343525" cy="2959862"/>
            </a:xfrm>
            <a:custGeom>
              <a:avLst/>
              <a:gdLst/>
              <a:ahLst/>
              <a:cxnLst/>
              <a:rect r="r" b="b" t="t" l="l"/>
              <a:pathLst>
                <a:path h="2959862" w="5343525">
                  <a:moveTo>
                    <a:pt x="0" y="0"/>
                  </a:moveTo>
                  <a:lnTo>
                    <a:pt x="5343525" y="0"/>
                  </a:lnTo>
                  <a:lnTo>
                    <a:pt x="5343525" y="2959862"/>
                  </a:lnTo>
                  <a:lnTo>
                    <a:pt x="0" y="29598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11" r="0" b="-112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785812" y="5999188"/>
            <a:ext cx="4007644" cy="2219916"/>
            <a:chOff x="0" y="0"/>
            <a:chExt cx="5343525" cy="2959887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5343525" cy="2959862"/>
            </a:xfrm>
            <a:custGeom>
              <a:avLst/>
              <a:gdLst/>
              <a:ahLst/>
              <a:cxnLst/>
              <a:rect r="r" b="b" t="t" l="l"/>
              <a:pathLst>
                <a:path h="2959862" w="5343525">
                  <a:moveTo>
                    <a:pt x="0" y="0"/>
                  </a:moveTo>
                  <a:lnTo>
                    <a:pt x="5343525" y="0"/>
                  </a:lnTo>
                  <a:lnTo>
                    <a:pt x="5343525" y="2959862"/>
                  </a:lnTo>
                  <a:lnTo>
                    <a:pt x="0" y="29598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432" r="0" b="-434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022056" y="5999188"/>
            <a:ext cx="4007644" cy="2219916"/>
            <a:chOff x="0" y="0"/>
            <a:chExt cx="5343525" cy="2959887"/>
          </a:xfrm>
        </p:grpSpPr>
        <p:sp>
          <p:nvSpPr>
            <p:cNvPr name="Freeform 15" id="15" descr="image.png"/>
            <p:cNvSpPr/>
            <p:nvPr/>
          </p:nvSpPr>
          <p:spPr>
            <a:xfrm flipH="false" flipV="false" rot="0">
              <a:off x="0" y="0"/>
              <a:ext cx="5343525" cy="2959862"/>
            </a:xfrm>
            <a:custGeom>
              <a:avLst/>
              <a:gdLst/>
              <a:ahLst/>
              <a:cxnLst/>
              <a:rect r="r" b="b" t="t" l="l"/>
              <a:pathLst>
                <a:path h="2959862" w="5343525">
                  <a:moveTo>
                    <a:pt x="0" y="0"/>
                  </a:moveTo>
                  <a:lnTo>
                    <a:pt x="5343525" y="0"/>
                  </a:lnTo>
                  <a:lnTo>
                    <a:pt x="5343525" y="2959862"/>
                  </a:lnTo>
                  <a:lnTo>
                    <a:pt x="0" y="29598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432" r="0" b="-434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258300" y="5999188"/>
            <a:ext cx="4007644" cy="2219916"/>
            <a:chOff x="0" y="0"/>
            <a:chExt cx="5343525" cy="2959887"/>
          </a:xfrm>
        </p:grpSpPr>
        <p:sp>
          <p:nvSpPr>
            <p:cNvPr name="Freeform 17" id="17" descr="image.png"/>
            <p:cNvSpPr/>
            <p:nvPr/>
          </p:nvSpPr>
          <p:spPr>
            <a:xfrm flipH="false" flipV="false" rot="0">
              <a:off x="0" y="0"/>
              <a:ext cx="5343525" cy="2959862"/>
            </a:xfrm>
            <a:custGeom>
              <a:avLst/>
              <a:gdLst/>
              <a:ahLst/>
              <a:cxnLst/>
              <a:rect r="r" b="b" t="t" l="l"/>
              <a:pathLst>
                <a:path h="2959862" w="5343525">
                  <a:moveTo>
                    <a:pt x="0" y="0"/>
                  </a:moveTo>
                  <a:lnTo>
                    <a:pt x="5343525" y="0"/>
                  </a:lnTo>
                  <a:lnTo>
                    <a:pt x="5343525" y="2959862"/>
                  </a:lnTo>
                  <a:lnTo>
                    <a:pt x="0" y="29598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432" r="0" b="-434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3494544" y="5999188"/>
            <a:ext cx="4007644" cy="2219916"/>
            <a:chOff x="0" y="0"/>
            <a:chExt cx="5343525" cy="2959887"/>
          </a:xfrm>
        </p:grpSpPr>
        <p:sp>
          <p:nvSpPr>
            <p:cNvPr name="Freeform 19" id="19" descr="image.png"/>
            <p:cNvSpPr/>
            <p:nvPr/>
          </p:nvSpPr>
          <p:spPr>
            <a:xfrm flipH="false" flipV="false" rot="0">
              <a:off x="0" y="0"/>
              <a:ext cx="5343525" cy="2959862"/>
            </a:xfrm>
            <a:custGeom>
              <a:avLst/>
              <a:gdLst/>
              <a:ahLst/>
              <a:cxnLst/>
              <a:rect r="r" b="b" t="t" l="l"/>
              <a:pathLst>
                <a:path h="2959862" w="5343525">
                  <a:moveTo>
                    <a:pt x="0" y="0"/>
                  </a:moveTo>
                  <a:lnTo>
                    <a:pt x="5343525" y="0"/>
                  </a:lnTo>
                  <a:lnTo>
                    <a:pt x="5343525" y="2959862"/>
                  </a:lnTo>
                  <a:lnTo>
                    <a:pt x="0" y="29598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432" r="0" b="-434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057275" y="3822125"/>
            <a:ext cx="400050" cy="400050"/>
            <a:chOff x="0" y="0"/>
            <a:chExt cx="533400" cy="533400"/>
          </a:xfrm>
        </p:grpSpPr>
        <p:sp>
          <p:nvSpPr>
            <p:cNvPr name="Freeform 21" id="21" descr="image.png"/>
            <p:cNvSpPr/>
            <p:nvPr/>
          </p:nvSpPr>
          <p:spPr>
            <a:xfrm flipH="false" flipV="false" rot="0">
              <a:off x="0" y="0"/>
              <a:ext cx="533400" cy="533400"/>
            </a:xfrm>
            <a:custGeom>
              <a:avLst/>
              <a:gdLst/>
              <a:ahLst/>
              <a:cxnLst/>
              <a:rect r="r" b="b" t="t" l="l"/>
              <a:pathLst>
                <a:path h="533400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1785" r="0" b="-1785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5293519" y="3822125"/>
            <a:ext cx="400050" cy="400050"/>
            <a:chOff x="0" y="0"/>
            <a:chExt cx="533400" cy="533400"/>
          </a:xfrm>
        </p:grpSpPr>
        <p:sp>
          <p:nvSpPr>
            <p:cNvPr name="Freeform 23" id="23" descr="image.png"/>
            <p:cNvSpPr/>
            <p:nvPr/>
          </p:nvSpPr>
          <p:spPr>
            <a:xfrm flipH="false" flipV="false" rot="0">
              <a:off x="0" y="0"/>
              <a:ext cx="533400" cy="533400"/>
            </a:xfrm>
            <a:custGeom>
              <a:avLst/>
              <a:gdLst/>
              <a:ahLst/>
              <a:cxnLst/>
              <a:rect r="r" b="b" t="t" l="l"/>
              <a:pathLst>
                <a:path h="533400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9529762" y="3822125"/>
            <a:ext cx="400050" cy="400050"/>
            <a:chOff x="0" y="0"/>
            <a:chExt cx="533400" cy="533400"/>
          </a:xfrm>
        </p:grpSpPr>
        <p:sp>
          <p:nvSpPr>
            <p:cNvPr name="Freeform 25" id="25" descr="image.png"/>
            <p:cNvSpPr/>
            <p:nvPr/>
          </p:nvSpPr>
          <p:spPr>
            <a:xfrm flipH="false" flipV="false" rot="0">
              <a:off x="0" y="0"/>
              <a:ext cx="533400" cy="533400"/>
            </a:xfrm>
            <a:custGeom>
              <a:avLst/>
              <a:gdLst/>
              <a:ahLst/>
              <a:cxnLst/>
              <a:rect r="r" b="b" t="t" l="l"/>
              <a:pathLst>
                <a:path h="533400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-1785" r="0" b="-1785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3766006" y="3822125"/>
            <a:ext cx="400050" cy="400050"/>
            <a:chOff x="0" y="0"/>
            <a:chExt cx="533400" cy="533400"/>
          </a:xfrm>
        </p:grpSpPr>
        <p:sp>
          <p:nvSpPr>
            <p:cNvPr name="Freeform 27" id="27" descr="image.png"/>
            <p:cNvSpPr/>
            <p:nvPr/>
          </p:nvSpPr>
          <p:spPr>
            <a:xfrm flipH="false" flipV="false" rot="0">
              <a:off x="0" y="0"/>
              <a:ext cx="533400" cy="533400"/>
            </a:xfrm>
            <a:custGeom>
              <a:avLst/>
              <a:gdLst/>
              <a:ahLst/>
              <a:cxnLst/>
              <a:rect r="r" b="b" t="t" l="l"/>
              <a:pathLst>
                <a:path h="533400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057275" y="6270650"/>
            <a:ext cx="400050" cy="400050"/>
            <a:chOff x="0" y="0"/>
            <a:chExt cx="533400" cy="533400"/>
          </a:xfrm>
        </p:grpSpPr>
        <p:sp>
          <p:nvSpPr>
            <p:cNvPr name="Freeform 29" id="29" descr="image.png"/>
            <p:cNvSpPr/>
            <p:nvPr/>
          </p:nvSpPr>
          <p:spPr>
            <a:xfrm flipH="false" flipV="false" rot="0">
              <a:off x="0" y="0"/>
              <a:ext cx="533400" cy="533400"/>
            </a:xfrm>
            <a:custGeom>
              <a:avLst/>
              <a:gdLst/>
              <a:ahLst/>
              <a:cxnLst/>
              <a:rect r="r" b="b" t="t" l="l"/>
              <a:pathLst>
                <a:path h="533400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-1785" r="0" b="-1785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5293519" y="6270650"/>
            <a:ext cx="400050" cy="400050"/>
            <a:chOff x="0" y="0"/>
            <a:chExt cx="533400" cy="533400"/>
          </a:xfrm>
        </p:grpSpPr>
        <p:sp>
          <p:nvSpPr>
            <p:cNvPr name="Freeform 31" id="31" descr="image.png"/>
            <p:cNvSpPr/>
            <p:nvPr/>
          </p:nvSpPr>
          <p:spPr>
            <a:xfrm flipH="false" flipV="false" rot="0">
              <a:off x="0" y="0"/>
              <a:ext cx="533400" cy="533400"/>
            </a:xfrm>
            <a:custGeom>
              <a:avLst/>
              <a:gdLst/>
              <a:ahLst/>
              <a:cxnLst/>
              <a:rect r="r" b="b" t="t" l="l"/>
              <a:pathLst>
                <a:path h="533400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0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9529762" y="6270650"/>
            <a:ext cx="400050" cy="400050"/>
            <a:chOff x="0" y="0"/>
            <a:chExt cx="533400" cy="533400"/>
          </a:xfrm>
        </p:grpSpPr>
        <p:sp>
          <p:nvSpPr>
            <p:cNvPr name="Freeform 33" id="33" descr="image.png"/>
            <p:cNvSpPr/>
            <p:nvPr/>
          </p:nvSpPr>
          <p:spPr>
            <a:xfrm flipH="false" flipV="false" rot="0">
              <a:off x="0" y="0"/>
              <a:ext cx="533400" cy="533400"/>
            </a:xfrm>
            <a:custGeom>
              <a:avLst/>
              <a:gdLst/>
              <a:ahLst/>
              <a:cxnLst/>
              <a:rect r="r" b="b" t="t" l="l"/>
              <a:pathLst>
                <a:path h="533400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-1785" r="0" b="-1785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3766006" y="6270650"/>
            <a:ext cx="400050" cy="400050"/>
            <a:chOff x="0" y="0"/>
            <a:chExt cx="533400" cy="533400"/>
          </a:xfrm>
        </p:grpSpPr>
        <p:sp>
          <p:nvSpPr>
            <p:cNvPr name="Freeform 35" id="35" descr="image.png"/>
            <p:cNvSpPr/>
            <p:nvPr/>
          </p:nvSpPr>
          <p:spPr>
            <a:xfrm flipH="false" flipV="false" rot="0">
              <a:off x="0" y="0"/>
              <a:ext cx="533400" cy="533400"/>
            </a:xfrm>
            <a:custGeom>
              <a:avLst/>
              <a:gdLst/>
              <a:ahLst/>
              <a:cxnLst/>
              <a:rect r="r" b="b" t="t" l="l"/>
              <a:pathLst>
                <a:path h="533400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0" b="0"/>
              </a:stretch>
            </a:blip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785812" y="1166812"/>
            <a:ext cx="17502188" cy="601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0"/>
              </a:lnSpc>
            </a:pPr>
            <a:r>
              <a:rPr lang="en-US" sz="3825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The 30-Day Learning Journey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985838" y="750094"/>
            <a:ext cx="207169" cy="185738"/>
            <a:chOff x="0" y="0"/>
            <a:chExt cx="276225" cy="247650"/>
          </a:xfrm>
        </p:grpSpPr>
        <p:sp>
          <p:nvSpPr>
            <p:cNvPr name="Freeform 38" id="38" descr="image.png"/>
            <p:cNvSpPr/>
            <p:nvPr/>
          </p:nvSpPr>
          <p:spPr>
            <a:xfrm flipH="false" flipV="false" rot="0">
              <a:off x="0" y="0"/>
              <a:ext cx="276225" cy="247650"/>
            </a:xfrm>
            <a:custGeom>
              <a:avLst/>
              <a:gdLst/>
              <a:ahLst/>
              <a:cxnLst/>
              <a:rect r="r" b="b" t="t" l="l"/>
              <a:pathLst>
                <a:path h="247650" w="276225">
                  <a:moveTo>
                    <a:pt x="0" y="0"/>
                  </a:moveTo>
                  <a:lnTo>
                    <a:pt x="276225" y="0"/>
                  </a:lnTo>
                  <a:lnTo>
                    <a:pt x="276225" y="247650"/>
                  </a:lnTo>
                  <a:lnTo>
                    <a:pt x="0" y="247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-2051" r="0" b="-2051"/>
              </a:stretch>
            </a:blip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1057275" y="4346000"/>
            <a:ext cx="3637950" cy="290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AI &amp; ML Fundamentals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057275" y="4665088"/>
            <a:ext cx="3464719" cy="834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8"/>
              </a:lnSpc>
            </a:pPr>
            <a:r>
              <a:rPr lang="en-US" sz="1405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Introduction to AI, Machine Learning, supervised learning, classification, and ML workflows.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5293519" y="4346000"/>
            <a:ext cx="3637950" cy="290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Python for AI/ML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5293519" y="4665088"/>
            <a:ext cx="3464719" cy="575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8"/>
              </a:lnSpc>
            </a:pPr>
            <a:r>
              <a:rPr lang="en-US" sz="1405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Using Python, libraries, functions, data structures, and notebook development.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9529762" y="4346000"/>
            <a:ext cx="3637950" cy="290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Data Analysis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9529762" y="4665088"/>
            <a:ext cx="3464719" cy="575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8"/>
              </a:lnSpc>
            </a:pPr>
            <a:r>
              <a:rPr lang="en-US" sz="1405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Loading datasets, checking dimensions, missing values, and target distributions.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3766006" y="4346000"/>
            <a:ext cx="3637950" cy="290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NLP Concepts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3766006" y="4665088"/>
            <a:ext cx="3464719" cy="834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8"/>
              </a:lnSpc>
            </a:pPr>
            <a:r>
              <a:rPr lang="en-US" sz="1405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Understanding text data, tokenization, normalization, stop-words, and stemming.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057275" y="6794525"/>
            <a:ext cx="3637950" cy="290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Text Preprocessing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057275" y="7113613"/>
            <a:ext cx="3464719" cy="834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8"/>
              </a:lnSpc>
            </a:pPr>
            <a:r>
              <a:rPr lang="en-US" sz="1405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Cleaning tweets with regex, lowercase conversion, and creating stemmed content.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5293519" y="6794525"/>
            <a:ext cx="3637950" cy="290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TF-IDF Extraction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5293519" y="7113613"/>
            <a:ext cx="3464719" cy="834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8"/>
              </a:lnSpc>
            </a:pPr>
            <a:r>
              <a:rPr lang="en-US" sz="1405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Converting processed tweets into numerical feature matrices for ML models.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9529762" y="6794525"/>
            <a:ext cx="3637950" cy="290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Logistic Regression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9529762" y="7113613"/>
            <a:ext cx="3464719" cy="575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8"/>
              </a:lnSpc>
            </a:pPr>
            <a:r>
              <a:rPr lang="en-US" sz="1405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Training a binary classification model with an 80:20 stratified train-test split.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3766006" y="6794525"/>
            <a:ext cx="3637950" cy="290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Evaluation &amp; Pickle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3766006" y="7113613"/>
            <a:ext cx="3464719" cy="575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8"/>
              </a:lnSpc>
            </a:pPr>
            <a:r>
              <a:rPr lang="en-US" sz="1405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Measuring accuracy, saving model using Pickle, reloading, and predicting.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714500" y="6286500"/>
            <a:ext cx="5715000" cy="5715000"/>
            <a:chOff x="0" y="0"/>
            <a:chExt cx="7620000" cy="7620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7620000" cy="7620000"/>
            </a:xfrm>
            <a:custGeom>
              <a:avLst/>
              <a:gdLst/>
              <a:ahLst/>
              <a:cxnLst/>
              <a:rect r="r" b="b" t="t" l="l"/>
              <a:pathLst>
                <a:path h="7620000" w="7620000">
                  <a:moveTo>
                    <a:pt x="0" y="0"/>
                  </a:moveTo>
                  <a:lnTo>
                    <a:pt x="7620000" y="0"/>
                  </a:lnTo>
                  <a:lnTo>
                    <a:pt x="7620000" y="7620000"/>
                  </a:lnTo>
                  <a:lnTo>
                    <a:pt x="0" y="7620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785812" y="577822"/>
            <a:ext cx="3638257" cy="465165"/>
            <a:chOff x="0" y="0"/>
            <a:chExt cx="4171950" cy="53340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4171950" cy="533400"/>
            </a:xfrm>
            <a:custGeom>
              <a:avLst/>
              <a:gdLst/>
              <a:ahLst/>
              <a:cxnLst/>
              <a:rect r="r" b="b" t="t" l="l"/>
              <a:pathLst>
                <a:path h="533400" w="4171950">
                  <a:moveTo>
                    <a:pt x="0" y="0"/>
                  </a:moveTo>
                  <a:lnTo>
                    <a:pt x="4171950" y="0"/>
                  </a:lnTo>
                  <a:lnTo>
                    <a:pt x="417195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645" r="0" b="-264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785812" y="3359572"/>
            <a:ext cx="5381473" cy="2382441"/>
            <a:chOff x="0" y="0"/>
            <a:chExt cx="7175297" cy="3176588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7175246" cy="3176524"/>
            </a:xfrm>
            <a:custGeom>
              <a:avLst/>
              <a:gdLst/>
              <a:ahLst/>
              <a:cxnLst/>
              <a:rect r="r" b="b" t="t" l="l"/>
              <a:pathLst>
                <a:path h="3176524" w="7175246">
                  <a:moveTo>
                    <a:pt x="0" y="0"/>
                  </a:moveTo>
                  <a:lnTo>
                    <a:pt x="7175246" y="0"/>
                  </a:lnTo>
                  <a:lnTo>
                    <a:pt x="7175246" y="3176524"/>
                  </a:lnTo>
                  <a:lnTo>
                    <a:pt x="0" y="31765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9" r="0" b="-31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6453035" y="3359572"/>
            <a:ext cx="5381701" cy="2382441"/>
            <a:chOff x="0" y="0"/>
            <a:chExt cx="7175602" cy="3176588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7175627" cy="3176524"/>
            </a:xfrm>
            <a:custGeom>
              <a:avLst/>
              <a:gdLst/>
              <a:ahLst/>
              <a:cxnLst/>
              <a:rect r="r" b="b" t="t" l="l"/>
              <a:pathLst>
                <a:path h="3176524" w="7175627">
                  <a:moveTo>
                    <a:pt x="0" y="0"/>
                  </a:moveTo>
                  <a:lnTo>
                    <a:pt x="7175627" y="0"/>
                  </a:lnTo>
                  <a:lnTo>
                    <a:pt x="7175627" y="3176524"/>
                  </a:lnTo>
                  <a:lnTo>
                    <a:pt x="0" y="31765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01" t="0" r="-100" b="-2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120486" y="3359572"/>
            <a:ext cx="5381473" cy="2382441"/>
            <a:chOff x="0" y="0"/>
            <a:chExt cx="7175297" cy="3176588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7175246" cy="3176524"/>
            </a:xfrm>
            <a:custGeom>
              <a:avLst/>
              <a:gdLst/>
              <a:ahLst/>
              <a:cxnLst/>
              <a:rect r="r" b="b" t="t" l="l"/>
              <a:pathLst>
                <a:path h="3176524" w="7175246">
                  <a:moveTo>
                    <a:pt x="0" y="0"/>
                  </a:moveTo>
                  <a:lnTo>
                    <a:pt x="7175246" y="0"/>
                  </a:lnTo>
                  <a:lnTo>
                    <a:pt x="7175246" y="3176524"/>
                  </a:lnTo>
                  <a:lnTo>
                    <a:pt x="0" y="31765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9" r="0" b="-31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785812" y="6027763"/>
            <a:ext cx="5381473" cy="2382441"/>
            <a:chOff x="0" y="0"/>
            <a:chExt cx="7175297" cy="3176588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7175246" cy="3176524"/>
            </a:xfrm>
            <a:custGeom>
              <a:avLst/>
              <a:gdLst/>
              <a:ahLst/>
              <a:cxnLst/>
              <a:rect r="r" b="b" t="t" l="l"/>
              <a:pathLst>
                <a:path h="3176524" w="7175246">
                  <a:moveTo>
                    <a:pt x="0" y="0"/>
                  </a:moveTo>
                  <a:lnTo>
                    <a:pt x="7175246" y="0"/>
                  </a:lnTo>
                  <a:lnTo>
                    <a:pt x="7175246" y="3176524"/>
                  </a:lnTo>
                  <a:lnTo>
                    <a:pt x="0" y="31765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329" r="0" b="-33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6453035" y="6027763"/>
            <a:ext cx="5381701" cy="2382441"/>
            <a:chOff x="0" y="0"/>
            <a:chExt cx="7175602" cy="3176588"/>
          </a:xfrm>
        </p:grpSpPr>
        <p:sp>
          <p:nvSpPr>
            <p:cNvPr name="Freeform 15" id="15" descr="image.png"/>
            <p:cNvSpPr/>
            <p:nvPr/>
          </p:nvSpPr>
          <p:spPr>
            <a:xfrm flipH="false" flipV="false" rot="0">
              <a:off x="0" y="0"/>
              <a:ext cx="7175627" cy="3176524"/>
            </a:xfrm>
            <a:custGeom>
              <a:avLst/>
              <a:gdLst/>
              <a:ahLst/>
              <a:cxnLst/>
              <a:rect r="r" b="b" t="t" l="l"/>
              <a:pathLst>
                <a:path h="3176524" w="7175627">
                  <a:moveTo>
                    <a:pt x="0" y="0"/>
                  </a:moveTo>
                  <a:lnTo>
                    <a:pt x="7175627" y="0"/>
                  </a:lnTo>
                  <a:lnTo>
                    <a:pt x="7175627" y="3176524"/>
                  </a:lnTo>
                  <a:lnTo>
                    <a:pt x="0" y="31765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197" r="0" b="-199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2120486" y="6027763"/>
            <a:ext cx="5381473" cy="2382441"/>
            <a:chOff x="0" y="0"/>
            <a:chExt cx="7175297" cy="3176588"/>
          </a:xfrm>
        </p:grpSpPr>
        <p:sp>
          <p:nvSpPr>
            <p:cNvPr name="Freeform 17" id="17" descr="image.png"/>
            <p:cNvSpPr/>
            <p:nvPr/>
          </p:nvSpPr>
          <p:spPr>
            <a:xfrm flipH="false" flipV="false" rot="0">
              <a:off x="0" y="0"/>
              <a:ext cx="7175246" cy="3176524"/>
            </a:xfrm>
            <a:custGeom>
              <a:avLst/>
              <a:gdLst/>
              <a:ahLst/>
              <a:cxnLst/>
              <a:rect r="r" b="b" t="t" l="l"/>
              <a:pathLst>
                <a:path h="3176524" w="7175246">
                  <a:moveTo>
                    <a:pt x="0" y="0"/>
                  </a:moveTo>
                  <a:lnTo>
                    <a:pt x="7175246" y="0"/>
                  </a:lnTo>
                  <a:lnTo>
                    <a:pt x="7175246" y="3176524"/>
                  </a:lnTo>
                  <a:lnTo>
                    <a:pt x="0" y="31765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329" r="0" b="-330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785812" y="1166812"/>
            <a:ext cx="17502188" cy="601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0"/>
              </a:lnSpc>
            </a:pPr>
            <a:r>
              <a:rPr lang="en-US" sz="3825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Skills &amp; Capabilities Gained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85838" y="750094"/>
            <a:ext cx="164306" cy="185738"/>
            <a:chOff x="0" y="0"/>
            <a:chExt cx="219075" cy="247650"/>
          </a:xfrm>
        </p:grpSpPr>
        <p:sp>
          <p:nvSpPr>
            <p:cNvPr name="Freeform 20" id="20" descr="image.png"/>
            <p:cNvSpPr/>
            <p:nvPr/>
          </p:nvSpPr>
          <p:spPr>
            <a:xfrm flipH="false" flipV="false" rot="0">
              <a:off x="0" y="0"/>
              <a:ext cx="219075" cy="247650"/>
            </a:xfrm>
            <a:custGeom>
              <a:avLst/>
              <a:gdLst/>
              <a:ahLst/>
              <a:cxnLst/>
              <a:rect r="r" b="b" t="t" l="l"/>
              <a:pathLst>
                <a:path h="247650" w="219075">
                  <a:moveTo>
                    <a:pt x="0" y="0"/>
                  </a:moveTo>
                  <a:lnTo>
                    <a:pt x="219075" y="0"/>
                  </a:lnTo>
                  <a:lnTo>
                    <a:pt x="219075" y="247650"/>
                  </a:lnTo>
                  <a:lnTo>
                    <a:pt x="0" y="247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1600" r="0" b="-1605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128712" y="3659610"/>
            <a:ext cx="4738535" cy="314325"/>
            <a:chOff x="0" y="0"/>
            <a:chExt cx="6318047" cy="419100"/>
          </a:xfrm>
        </p:grpSpPr>
        <p:sp>
          <p:nvSpPr>
            <p:cNvPr name="Freeform 22" id="22" descr="image.png"/>
            <p:cNvSpPr/>
            <p:nvPr/>
          </p:nvSpPr>
          <p:spPr>
            <a:xfrm flipH="false" flipV="false" rot="0">
              <a:off x="0" y="0"/>
              <a:ext cx="6317996" cy="419100"/>
            </a:xfrm>
            <a:custGeom>
              <a:avLst/>
              <a:gdLst/>
              <a:ahLst/>
              <a:cxnLst/>
              <a:rect r="r" b="b" t="t" l="l"/>
              <a:pathLst>
                <a:path h="419100" w="6317996">
                  <a:moveTo>
                    <a:pt x="0" y="0"/>
                  </a:moveTo>
                  <a:lnTo>
                    <a:pt x="6317996" y="0"/>
                  </a:lnTo>
                  <a:lnTo>
                    <a:pt x="6317996" y="419100"/>
                  </a:lnTo>
                  <a:lnTo>
                    <a:pt x="0" y="419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1442" r="0" b="-1445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128712" y="4135860"/>
            <a:ext cx="4975469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1. AI/ML Workflow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28712" y="4516860"/>
            <a:ext cx="4738535" cy="925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7"/>
              </a:lnSpc>
            </a:pPr>
            <a:r>
              <a:rPr lang="en-US" sz="1518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Understanding how a machine learning problem progresses from data acquisition to prediction and model persistence.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6795935" y="3659610"/>
            <a:ext cx="4738764" cy="314325"/>
            <a:chOff x="0" y="0"/>
            <a:chExt cx="6318352" cy="419100"/>
          </a:xfrm>
        </p:grpSpPr>
        <p:sp>
          <p:nvSpPr>
            <p:cNvPr name="Freeform 26" id="26" descr="image.png"/>
            <p:cNvSpPr/>
            <p:nvPr/>
          </p:nvSpPr>
          <p:spPr>
            <a:xfrm flipH="false" flipV="false" rot="0">
              <a:off x="0" y="0"/>
              <a:ext cx="6318377" cy="419100"/>
            </a:xfrm>
            <a:custGeom>
              <a:avLst/>
              <a:gdLst/>
              <a:ahLst/>
              <a:cxnLst/>
              <a:rect r="r" b="b" t="t" l="l"/>
              <a:pathLst>
                <a:path h="419100" w="6318377">
                  <a:moveTo>
                    <a:pt x="0" y="0"/>
                  </a:moveTo>
                  <a:lnTo>
                    <a:pt x="6318377" y="0"/>
                  </a:lnTo>
                  <a:lnTo>
                    <a:pt x="6318377" y="419100"/>
                  </a:lnTo>
                  <a:lnTo>
                    <a:pt x="0" y="419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1293" r="0" b="-1293"/>
              </a:stretch>
            </a:blip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6795935" y="4135860"/>
            <a:ext cx="4975698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2. Data Handling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795935" y="4516860"/>
            <a:ext cx="4738764" cy="925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7"/>
              </a:lnSpc>
            </a:pPr>
            <a:r>
              <a:rPr lang="en-US" sz="1518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Practical experience in loading, inspecting, cleaning, transforming, and preparing a large dataset.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2463386" y="3659610"/>
            <a:ext cx="4738535" cy="314325"/>
            <a:chOff x="0" y="0"/>
            <a:chExt cx="6318047" cy="419100"/>
          </a:xfrm>
        </p:grpSpPr>
        <p:sp>
          <p:nvSpPr>
            <p:cNvPr name="Freeform 30" id="30" descr="image.png"/>
            <p:cNvSpPr/>
            <p:nvPr/>
          </p:nvSpPr>
          <p:spPr>
            <a:xfrm flipH="false" flipV="false" rot="0">
              <a:off x="0" y="0"/>
              <a:ext cx="6317996" cy="419100"/>
            </a:xfrm>
            <a:custGeom>
              <a:avLst/>
              <a:gdLst/>
              <a:ahLst/>
              <a:cxnLst/>
              <a:rect r="r" b="b" t="t" l="l"/>
              <a:pathLst>
                <a:path h="419100" w="6317996">
                  <a:moveTo>
                    <a:pt x="0" y="0"/>
                  </a:moveTo>
                  <a:lnTo>
                    <a:pt x="6317996" y="0"/>
                  </a:lnTo>
                  <a:lnTo>
                    <a:pt x="6317996" y="419100"/>
                  </a:lnTo>
                  <a:lnTo>
                    <a:pt x="0" y="419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1442" r="0" b="-1445"/>
              </a:stretch>
            </a:blip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12463386" y="4135860"/>
            <a:ext cx="4975469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3. Natural Language Processing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463386" y="4516860"/>
            <a:ext cx="4738535" cy="925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7"/>
              </a:lnSpc>
            </a:pPr>
            <a:r>
              <a:rPr lang="en-US" sz="1518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Understanding and applying text preprocessing techniques specifically tailored for social-media text.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128712" y="6327800"/>
            <a:ext cx="4738535" cy="314325"/>
            <a:chOff x="0" y="0"/>
            <a:chExt cx="6318047" cy="419100"/>
          </a:xfrm>
        </p:grpSpPr>
        <p:sp>
          <p:nvSpPr>
            <p:cNvPr name="Freeform 34" id="34" descr="image.png"/>
            <p:cNvSpPr/>
            <p:nvPr/>
          </p:nvSpPr>
          <p:spPr>
            <a:xfrm flipH="false" flipV="false" rot="0">
              <a:off x="0" y="0"/>
              <a:ext cx="6317996" cy="419100"/>
            </a:xfrm>
            <a:custGeom>
              <a:avLst/>
              <a:gdLst/>
              <a:ahLst/>
              <a:cxnLst/>
              <a:rect r="r" b="b" t="t" l="l"/>
              <a:pathLst>
                <a:path h="419100" w="6317996">
                  <a:moveTo>
                    <a:pt x="0" y="0"/>
                  </a:moveTo>
                  <a:lnTo>
                    <a:pt x="6317996" y="0"/>
                  </a:lnTo>
                  <a:lnTo>
                    <a:pt x="6317996" y="419100"/>
                  </a:lnTo>
                  <a:lnTo>
                    <a:pt x="0" y="419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1442" r="0" b="-1445"/>
              </a:stretch>
            </a:blip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1128712" y="6804050"/>
            <a:ext cx="4975469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4. Machine Learning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128712" y="7185050"/>
            <a:ext cx="4738535" cy="635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7"/>
              </a:lnSpc>
            </a:pPr>
            <a:r>
              <a:rPr lang="en-US" sz="1518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Practical experience with TF-IDF feature extraction and Logistic Regression for binary classification.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6795935" y="6327800"/>
            <a:ext cx="4738764" cy="314325"/>
            <a:chOff x="0" y="0"/>
            <a:chExt cx="6318352" cy="419100"/>
          </a:xfrm>
        </p:grpSpPr>
        <p:sp>
          <p:nvSpPr>
            <p:cNvPr name="Freeform 38" id="38" descr="image.png"/>
            <p:cNvSpPr/>
            <p:nvPr/>
          </p:nvSpPr>
          <p:spPr>
            <a:xfrm flipH="false" flipV="false" rot="0">
              <a:off x="0" y="0"/>
              <a:ext cx="6318377" cy="419100"/>
            </a:xfrm>
            <a:custGeom>
              <a:avLst/>
              <a:gdLst/>
              <a:ahLst/>
              <a:cxnLst/>
              <a:rect r="r" b="b" t="t" l="l"/>
              <a:pathLst>
                <a:path h="419100" w="6318377">
                  <a:moveTo>
                    <a:pt x="0" y="0"/>
                  </a:moveTo>
                  <a:lnTo>
                    <a:pt x="6318377" y="0"/>
                  </a:lnTo>
                  <a:lnTo>
                    <a:pt x="6318377" y="419100"/>
                  </a:lnTo>
                  <a:lnTo>
                    <a:pt x="0" y="419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-1293" r="0" b="-1293"/>
              </a:stretch>
            </a:blip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6795935" y="6804050"/>
            <a:ext cx="4975698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5. Model Evaluation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6795935" y="7185050"/>
            <a:ext cx="4738764" cy="925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7"/>
              </a:lnSpc>
            </a:pPr>
            <a:r>
              <a:rPr lang="en-US" sz="1518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Understanding train-test splitting and evaluating model performance using classification accuracy on unseen data.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12463386" y="6327800"/>
            <a:ext cx="4738535" cy="314325"/>
            <a:chOff x="0" y="0"/>
            <a:chExt cx="6318047" cy="419100"/>
          </a:xfrm>
        </p:grpSpPr>
        <p:sp>
          <p:nvSpPr>
            <p:cNvPr name="Freeform 42" id="42" descr="image.png"/>
            <p:cNvSpPr/>
            <p:nvPr/>
          </p:nvSpPr>
          <p:spPr>
            <a:xfrm flipH="false" flipV="false" rot="0">
              <a:off x="0" y="0"/>
              <a:ext cx="6317996" cy="419100"/>
            </a:xfrm>
            <a:custGeom>
              <a:avLst/>
              <a:gdLst/>
              <a:ahLst/>
              <a:cxnLst/>
              <a:rect r="r" b="b" t="t" l="l"/>
              <a:pathLst>
                <a:path h="419100" w="6317996">
                  <a:moveTo>
                    <a:pt x="0" y="0"/>
                  </a:moveTo>
                  <a:lnTo>
                    <a:pt x="6317996" y="0"/>
                  </a:lnTo>
                  <a:lnTo>
                    <a:pt x="6317996" y="419100"/>
                  </a:lnTo>
                  <a:lnTo>
                    <a:pt x="0" y="419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-1442" r="0" b="-1445"/>
              </a:stretch>
            </a:blipFill>
          </p:spPr>
        </p:sp>
      </p:grpSp>
      <p:sp>
        <p:nvSpPr>
          <p:cNvPr name="TextBox 43" id="43"/>
          <p:cNvSpPr txBox="true"/>
          <p:nvPr/>
        </p:nvSpPr>
        <p:spPr>
          <a:xfrm rot="0">
            <a:off x="12463386" y="6804050"/>
            <a:ext cx="4975469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6. Engineering Practices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2463386" y="7185050"/>
            <a:ext cx="4738535" cy="925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7"/>
              </a:lnSpc>
            </a:pPr>
            <a:r>
              <a:rPr lang="en-US" sz="1518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Developing skills in reproducibility, model persistence, systematic problem solving, and computational awareness.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716125" y="-1428750"/>
            <a:ext cx="5000625" cy="5000625"/>
            <a:chOff x="0" y="0"/>
            <a:chExt cx="6667500" cy="66675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6667500" cy="6667500"/>
            </a:xfrm>
            <a:custGeom>
              <a:avLst/>
              <a:gdLst/>
              <a:ahLst/>
              <a:cxnLst/>
              <a:rect r="r" b="b" t="t" l="l"/>
              <a:pathLst>
                <a:path h="6667500" w="6667500">
                  <a:moveTo>
                    <a:pt x="0" y="0"/>
                  </a:moveTo>
                  <a:lnTo>
                    <a:pt x="6667500" y="0"/>
                  </a:lnTo>
                  <a:lnTo>
                    <a:pt x="6667500" y="6667500"/>
                  </a:lnTo>
                  <a:lnTo>
                    <a:pt x="0" y="6667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785812" y="642938"/>
            <a:ext cx="3571875" cy="400050"/>
            <a:chOff x="0" y="0"/>
            <a:chExt cx="4762500" cy="53340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4762500" cy="533400"/>
            </a:xfrm>
            <a:custGeom>
              <a:avLst/>
              <a:gdLst/>
              <a:ahLst/>
              <a:cxnLst/>
              <a:rect r="r" b="b" t="t" l="l"/>
              <a:pathLst>
                <a:path h="533400" w="4762500">
                  <a:moveTo>
                    <a:pt x="0" y="0"/>
                  </a:moveTo>
                  <a:lnTo>
                    <a:pt x="4762500" y="0"/>
                  </a:lnTo>
                  <a:lnTo>
                    <a:pt x="476250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966" r="0" b="-2966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785812" y="2228069"/>
            <a:ext cx="5043488" cy="871538"/>
            <a:chOff x="0" y="0"/>
            <a:chExt cx="6724650" cy="116205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6724650" cy="1162050"/>
            </a:xfrm>
            <a:custGeom>
              <a:avLst/>
              <a:gdLst/>
              <a:ahLst/>
              <a:cxnLst/>
              <a:rect r="r" b="b" t="t" l="l"/>
              <a:pathLst>
                <a:path h="1162050" w="6724650">
                  <a:moveTo>
                    <a:pt x="0" y="0"/>
                  </a:moveTo>
                  <a:lnTo>
                    <a:pt x="6724650" y="0"/>
                  </a:lnTo>
                  <a:lnTo>
                    <a:pt x="6724650" y="1162050"/>
                  </a:lnTo>
                  <a:lnTo>
                    <a:pt x="0" y="1162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819" r="0" b="-819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42950" y="5842025"/>
            <a:ext cx="5043488" cy="871538"/>
            <a:chOff x="0" y="0"/>
            <a:chExt cx="6724650" cy="116205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6724650" cy="1162050"/>
            </a:xfrm>
            <a:custGeom>
              <a:avLst/>
              <a:gdLst/>
              <a:ahLst/>
              <a:cxnLst/>
              <a:rect r="r" b="b" t="t" l="l"/>
              <a:pathLst>
                <a:path h="1162050" w="6724650">
                  <a:moveTo>
                    <a:pt x="0" y="0"/>
                  </a:moveTo>
                  <a:lnTo>
                    <a:pt x="6724650" y="0"/>
                  </a:lnTo>
                  <a:lnTo>
                    <a:pt x="6724650" y="1162050"/>
                  </a:lnTo>
                  <a:lnTo>
                    <a:pt x="0" y="1162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819" r="0" b="-819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42950" y="3439344"/>
            <a:ext cx="5043488" cy="871538"/>
            <a:chOff x="0" y="0"/>
            <a:chExt cx="6724650" cy="1162050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6724650" cy="1162050"/>
            </a:xfrm>
            <a:custGeom>
              <a:avLst/>
              <a:gdLst/>
              <a:ahLst/>
              <a:cxnLst/>
              <a:rect r="r" b="b" t="t" l="l"/>
              <a:pathLst>
                <a:path h="1162050" w="6724650">
                  <a:moveTo>
                    <a:pt x="0" y="0"/>
                  </a:moveTo>
                  <a:lnTo>
                    <a:pt x="6724650" y="0"/>
                  </a:lnTo>
                  <a:lnTo>
                    <a:pt x="6724650" y="1162050"/>
                  </a:lnTo>
                  <a:lnTo>
                    <a:pt x="0" y="1162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819" r="0" b="-819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742950" y="7056463"/>
            <a:ext cx="5043488" cy="871538"/>
            <a:chOff x="0" y="0"/>
            <a:chExt cx="6724650" cy="1162050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6724650" cy="1162050"/>
            </a:xfrm>
            <a:custGeom>
              <a:avLst/>
              <a:gdLst/>
              <a:ahLst/>
              <a:cxnLst/>
              <a:rect r="r" b="b" t="t" l="l"/>
              <a:pathLst>
                <a:path h="1162050" w="6724650">
                  <a:moveTo>
                    <a:pt x="0" y="0"/>
                  </a:moveTo>
                  <a:lnTo>
                    <a:pt x="6724650" y="0"/>
                  </a:lnTo>
                  <a:lnTo>
                    <a:pt x="6724650" y="1162050"/>
                  </a:lnTo>
                  <a:lnTo>
                    <a:pt x="0" y="1162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819" r="0" b="-819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742950" y="4653782"/>
            <a:ext cx="5043488" cy="871538"/>
            <a:chOff x="0" y="0"/>
            <a:chExt cx="6724650" cy="1162050"/>
          </a:xfrm>
        </p:grpSpPr>
        <p:sp>
          <p:nvSpPr>
            <p:cNvPr name="Freeform 15" id="15" descr="image.png"/>
            <p:cNvSpPr/>
            <p:nvPr/>
          </p:nvSpPr>
          <p:spPr>
            <a:xfrm flipH="false" flipV="false" rot="0">
              <a:off x="0" y="0"/>
              <a:ext cx="6724650" cy="1162050"/>
            </a:xfrm>
            <a:custGeom>
              <a:avLst/>
              <a:gdLst/>
              <a:ahLst/>
              <a:cxnLst/>
              <a:rect r="r" b="b" t="t" l="l"/>
              <a:pathLst>
                <a:path h="1162050" w="6724650">
                  <a:moveTo>
                    <a:pt x="0" y="0"/>
                  </a:moveTo>
                  <a:lnTo>
                    <a:pt x="6724650" y="0"/>
                  </a:lnTo>
                  <a:lnTo>
                    <a:pt x="6724650" y="1162050"/>
                  </a:lnTo>
                  <a:lnTo>
                    <a:pt x="0" y="1162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819" r="0" b="-819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742950" y="8242325"/>
            <a:ext cx="5043488" cy="871538"/>
            <a:chOff x="0" y="0"/>
            <a:chExt cx="6724650" cy="1162050"/>
          </a:xfrm>
        </p:grpSpPr>
        <p:sp>
          <p:nvSpPr>
            <p:cNvPr name="Freeform 17" id="17" descr="image.png"/>
            <p:cNvSpPr/>
            <p:nvPr/>
          </p:nvSpPr>
          <p:spPr>
            <a:xfrm flipH="false" flipV="false" rot="0">
              <a:off x="0" y="0"/>
              <a:ext cx="6724650" cy="1162050"/>
            </a:xfrm>
            <a:custGeom>
              <a:avLst/>
              <a:gdLst/>
              <a:ahLst/>
              <a:cxnLst/>
              <a:rect r="r" b="b" t="t" l="l"/>
              <a:pathLst>
                <a:path h="1162050" w="6724650">
                  <a:moveTo>
                    <a:pt x="0" y="0"/>
                  </a:moveTo>
                  <a:lnTo>
                    <a:pt x="6724650" y="0"/>
                  </a:lnTo>
                  <a:lnTo>
                    <a:pt x="6724650" y="1162050"/>
                  </a:lnTo>
                  <a:lnTo>
                    <a:pt x="0" y="1162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819" r="0" b="-819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85838" y="750094"/>
            <a:ext cx="207169" cy="185738"/>
            <a:chOff x="0" y="0"/>
            <a:chExt cx="276225" cy="247650"/>
          </a:xfrm>
        </p:grpSpPr>
        <p:sp>
          <p:nvSpPr>
            <p:cNvPr name="Freeform 19" id="19" descr="image.png"/>
            <p:cNvSpPr/>
            <p:nvPr/>
          </p:nvSpPr>
          <p:spPr>
            <a:xfrm flipH="false" flipV="false" rot="0">
              <a:off x="0" y="0"/>
              <a:ext cx="276225" cy="247650"/>
            </a:xfrm>
            <a:custGeom>
              <a:avLst/>
              <a:gdLst/>
              <a:ahLst/>
              <a:cxnLst/>
              <a:rect r="r" b="b" t="t" l="l"/>
              <a:pathLst>
                <a:path h="247650" w="276225">
                  <a:moveTo>
                    <a:pt x="0" y="0"/>
                  </a:moveTo>
                  <a:lnTo>
                    <a:pt x="276225" y="0"/>
                  </a:lnTo>
                  <a:lnTo>
                    <a:pt x="276225" y="247650"/>
                  </a:lnTo>
                  <a:lnTo>
                    <a:pt x="0" y="247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2051" r="0" b="-2051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785812" y="1166812"/>
            <a:ext cx="17502188" cy="601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0"/>
              </a:lnSpc>
            </a:pPr>
            <a:r>
              <a:rPr lang="en-US" sz="3825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Successfully Completed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85838" y="2441600"/>
            <a:ext cx="4557712" cy="195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85"/>
              </a:lnSpc>
            </a:pPr>
            <a:r>
              <a:rPr lang="en-US" sz="1237" b="true">
                <a:solidFill>
                  <a:srgbClr val="64748B"/>
                </a:solidFill>
                <a:latin typeface="Arimo Bold"/>
                <a:ea typeface="Arimo Bold"/>
                <a:cs typeface="Arimo Bold"/>
                <a:sym typeface="Arimo Bold"/>
              </a:rPr>
              <a:t>ORGANIZATION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85838" y="2654313"/>
            <a:ext cx="4557712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Codec Technologies Pvt. Ltd.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85838" y="5972994"/>
            <a:ext cx="4557712" cy="195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85"/>
              </a:lnSpc>
            </a:pPr>
            <a:r>
              <a:rPr lang="en-US" sz="1237" b="true">
                <a:solidFill>
                  <a:srgbClr val="64748B"/>
                </a:solidFill>
                <a:latin typeface="Arimo Bold"/>
                <a:ea typeface="Arimo Bold"/>
                <a:cs typeface="Arimo Bold"/>
                <a:sym typeface="Arimo Bold"/>
              </a:rPr>
              <a:t>DESIGNATION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85838" y="6301607"/>
            <a:ext cx="4557712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Artificial Intelligence Intern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28700" y="3562350"/>
            <a:ext cx="829469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85"/>
              </a:lnSpc>
            </a:pPr>
            <a:r>
              <a:rPr lang="en-US" sz="1237" b="true">
                <a:solidFill>
                  <a:srgbClr val="64748B"/>
                </a:solidFill>
                <a:latin typeface="Arimo Bold"/>
                <a:ea typeface="Arimo Bold"/>
                <a:cs typeface="Arimo Bold"/>
                <a:sym typeface="Arimo Bold"/>
              </a:rPr>
              <a:t>DURATION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28700" y="3775100"/>
            <a:ext cx="4557712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30 Days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85838" y="7246963"/>
            <a:ext cx="4557712" cy="195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85"/>
              </a:lnSpc>
            </a:pPr>
            <a:r>
              <a:rPr lang="en-US" sz="1237" b="true">
                <a:solidFill>
                  <a:srgbClr val="64748B"/>
                </a:solidFill>
                <a:latin typeface="Arimo Bold"/>
                <a:ea typeface="Arimo Bold"/>
                <a:cs typeface="Arimo Bold"/>
                <a:sym typeface="Arimo Bold"/>
              </a:rPr>
              <a:t>INTERNSHIP PERIOD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85838" y="7566050"/>
            <a:ext cx="4557712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30 July 2026 – 30 August 2026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28700" y="4846663"/>
            <a:ext cx="4557712" cy="195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85"/>
              </a:lnSpc>
            </a:pPr>
            <a:r>
              <a:rPr lang="en-US" sz="1237" b="true">
                <a:solidFill>
                  <a:srgbClr val="64748B"/>
                </a:solidFill>
                <a:latin typeface="Arimo Bold"/>
                <a:ea typeface="Arimo Bold"/>
                <a:cs typeface="Arimo Bold"/>
                <a:sym typeface="Arimo Bold"/>
              </a:rPr>
              <a:t>MODE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85838" y="5160988"/>
            <a:ext cx="4557712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Pan India, Hybrid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85838" y="8375675"/>
            <a:ext cx="4557712" cy="195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85"/>
              </a:lnSpc>
            </a:pPr>
            <a:r>
              <a:rPr lang="en-US" sz="1237" b="true">
                <a:solidFill>
                  <a:srgbClr val="64748B"/>
                </a:solidFill>
                <a:latin typeface="Arimo Bold"/>
                <a:ea typeface="Arimo Bold"/>
                <a:cs typeface="Arimo Bold"/>
                <a:sym typeface="Arimo Bold"/>
              </a:rPr>
              <a:t>REPORTING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85838" y="8668569"/>
            <a:ext cx="4557712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Assigned Project Head(s)</a:t>
            </a:r>
          </a:p>
        </p:txBody>
      </p:sp>
      <p:pic>
        <p:nvPicPr>
          <p:cNvPr id="34" name="Picture 33" descr="aditya_certifica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46520" y="2194560"/>
            <a:ext cx="11283696" cy="691286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300662" y="4900612"/>
            <a:ext cx="7686675" cy="2771775"/>
            <a:chOff x="0" y="0"/>
            <a:chExt cx="10248900" cy="369570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0248900" cy="3695700"/>
            </a:xfrm>
            <a:custGeom>
              <a:avLst/>
              <a:gdLst/>
              <a:ahLst/>
              <a:cxnLst/>
              <a:rect r="r" b="b" t="t" l="l"/>
              <a:pathLst>
                <a:path h="3695700" w="10248900">
                  <a:moveTo>
                    <a:pt x="0" y="0"/>
                  </a:moveTo>
                  <a:lnTo>
                    <a:pt x="10248900" y="0"/>
                  </a:lnTo>
                  <a:lnTo>
                    <a:pt x="10248900" y="3695700"/>
                  </a:lnTo>
                  <a:lnTo>
                    <a:pt x="0" y="3695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6773704" y="2586037"/>
            <a:ext cx="4740592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40"/>
              </a:lnSpc>
            </a:pPr>
            <a:r>
              <a:rPr lang="en-US" sz="72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Thank You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350669" y="3919537"/>
            <a:ext cx="758666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70"/>
              </a:lnSpc>
            </a:pPr>
            <a:r>
              <a:rPr lang="en-US" sz="2475">
                <a:solidFill>
                  <a:srgbClr val="38BDF8"/>
                </a:solidFill>
                <a:latin typeface="Arimo"/>
                <a:ea typeface="Arimo"/>
                <a:cs typeface="Arimo"/>
                <a:sym typeface="Arimo"/>
              </a:rPr>
              <a:t>Artificial Intelligence &amp; Machine Learning Internship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873591" y="5324475"/>
            <a:ext cx="6540818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Aditya Gupta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029325" y="5772150"/>
            <a:ext cx="6229350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1687">
                <a:solidFill>
                  <a:srgbClr val="60A5FA"/>
                </a:solidFill>
                <a:latin typeface="Arimo"/>
                <a:ea typeface="Arimo"/>
                <a:cs typeface="Arimo"/>
                <a:sym typeface="Arimo"/>
              </a:rPr>
              <a:t>Degree:</a:t>
            </a:r>
            <a:r>
              <a:rPr lang="en-US" sz="1687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 B.Tech – Computer Science &amp; Engineering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029325" y="6115050"/>
            <a:ext cx="6229350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1687">
                <a:solidFill>
                  <a:srgbClr val="60A5FA"/>
                </a:solidFill>
                <a:latin typeface="Arimo"/>
                <a:ea typeface="Arimo"/>
                <a:cs typeface="Arimo"/>
                <a:sym typeface="Arimo"/>
              </a:rPr>
              <a:t>University:</a:t>
            </a:r>
            <a:r>
              <a:rPr lang="en-US" sz="1687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 IILM University, Greater Noida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029325" y="6457950"/>
            <a:ext cx="6229350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1687">
                <a:solidFill>
                  <a:srgbClr val="60A5FA"/>
                </a:solidFill>
                <a:latin typeface="Arimo"/>
                <a:ea typeface="Arimo"/>
                <a:cs typeface="Arimo"/>
                <a:sym typeface="Arimo"/>
              </a:rPr>
              <a:t>Internship:</a:t>
            </a:r>
            <a:r>
              <a:rPr lang="en-US" sz="1687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 Codec Technologies Pvt. Ltd.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029325" y="6800850"/>
            <a:ext cx="6229350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1687">
                <a:solidFill>
                  <a:srgbClr val="60A5FA"/>
                </a:solidFill>
                <a:latin typeface="Arimo"/>
                <a:ea typeface="Arimo"/>
                <a:cs typeface="Arimo"/>
                <a:sym typeface="Arimo"/>
              </a:rPr>
              <a:t>Project:</a:t>
            </a:r>
            <a:r>
              <a:rPr lang="en-US" sz="1687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 Twitter Sentiment Analysis Using Logistic Regression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DAHUoCjJNvs</dc:identifier>
  <dcterms:modified xsi:type="dcterms:W3CDTF">2011-08-01T06:04:30Z</dcterms:modified>
  <cp:revision>1</cp:revision>
  <dc:title>Internship Report - Twitter Sentiment Analysis.pptx</dc:title>
</cp:coreProperties>
</file>